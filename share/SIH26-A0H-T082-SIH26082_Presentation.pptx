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6" r:id="rId3"/>
    <p:sldId id="297" r:id="rId4"/>
    <p:sldId id="257" r:id="rId5"/>
    <p:sldId id="258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36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19200" y="323535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Air Pollution–Weather Coupled Forecasting System (Delhi NCR Focus)</a:t>
            </a:r>
            <a:endParaRPr lang="en-IN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6630" y="1964931"/>
            <a:ext cx="5010150" cy="400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Problem Statement ID - 26082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Problem Statement Title -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Air Pollution Weather Coupled Forecasting System (Delhi NCR Focus)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Theme- Clean and Green technology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Team ID - SIH26-A0H-T052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Team Name - Tech Forge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TechForge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30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651760" y="658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Pollution–Weather Coupled Forecasting System  •  Delhi NCR Focus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0" y="475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114300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05656" y="1170432"/>
            <a:ext cx="0" cy="5367528"/>
          </a:xfrm>
          <a:prstGeom prst="line">
            <a:avLst/>
          </a:prstGeom>
          <a:noFill/>
          <a:ln w="12700">
            <a:solidFill>
              <a:srgbClr val="C7CFD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522208" y="1170432"/>
            <a:ext cx="0" cy="5367528"/>
          </a:xfrm>
          <a:prstGeom prst="line">
            <a:avLst/>
          </a:prstGeom>
          <a:noFill/>
          <a:ln w="12700">
            <a:solidFill>
              <a:srgbClr val="C7CFD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65760" y="11704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at Hand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65760" y="1554480"/>
            <a:ext cx="3611880" cy="1170432"/>
          </a:xfrm>
          <a:prstGeom prst="rect">
            <a:avLst/>
          </a:prstGeom>
          <a:solidFill>
            <a:srgbClr val="FDECD9"/>
          </a:solidFill>
          <a:ln w="9525">
            <a:solidFill>
              <a:srgbClr val="B9C2C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93776" y="1627632"/>
            <a:ext cx="3355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Forecasting: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Air quality and weather models run in silos, missing coupled effects like temperature inversions that trap pollutants near the surface.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3611880" cy="1170432"/>
          </a:xfrm>
          <a:prstGeom prst="rect">
            <a:avLst/>
          </a:prstGeom>
          <a:solidFill>
            <a:srgbClr val="E4EEF0"/>
          </a:solidFill>
          <a:ln w="9525">
            <a:solidFill>
              <a:srgbClr val="B9C2CF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93776" y="2907792"/>
            <a:ext cx="3355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Crisis: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Stubble burning, vehicular emissions, and low winter wind speeds push AQI past 400, affecting over 30 million residents each winter.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3611880" cy="1170432"/>
          </a:xfrm>
          <a:prstGeom prst="rect">
            <a:avLst/>
          </a:prstGeom>
          <a:solidFill>
            <a:srgbClr val="E9ECF5"/>
          </a:solidFill>
          <a:ln w="9525">
            <a:solidFill>
              <a:srgbClr val="B9C2C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93776" y="4187952"/>
            <a:ext cx="3355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AQI Models: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Existing AQI forecasts rarely update dynamically with real-time shifts in wind, humidity, and inversion layers.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5394960"/>
            <a:ext cx="3611880" cy="1170432"/>
          </a:xfrm>
          <a:prstGeom prst="rect">
            <a:avLst/>
          </a:prstGeom>
          <a:solidFill>
            <a:srgbClr val="F7E1DD"/>
          </a:solidFill>
          <a:ln w="9525">
            <a:solidFill>
              <a:srgbClr val="B9C2C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93776" y="5468112"/>
            <a:ext cx="3355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Public Alerts: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 advisories reach citizens after pollution spikes hit — leaving little time for schools, hospitals, or commuters to react.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233672" y="11704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  </a:t>
            </a:r>
            <a:r>
              <a:rPr lang="en-US" sz="1700" u="sng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AeroCast NCR – Web Demo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233672" y="1554480"/>
            <a:ext cx="4160520" cy="233172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26" name="Shape 24"/>
          <p:cNvSpPr/>
          <p:nvPr/>
        </p:nvSpPr>
        <p:spPr>
          <a:xfrm>
            <a:off x="4553712" y="1828800"/>
            <a:ext cx="822960" cy="822960"/>
          </a:xfrm>
          <a:prstGeom prst="ellipse">
            <a:avLst/>
          </a:prstGeom>
          <a:solidFill>
            <a:srgbClr val="E08E45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90872" y="1965960"/>
            <a:ext cx="548640" cy="54864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28" name="Shape 26"/>
          <p:cNvSpPr/>
          <p:nvPr/>
        </p:nvSpPr>
        <p:spPr>
          <a:xfrm>
            <a:off x="5696712" y="2788920"/>
            <a:ext cx="292608" cy="640080"/>
          </a:xfrm>
          <a:prstGeom prst="rect">
            <a:avLst/>
          </a:prstGeom>
          <a:solidFill>
            <a:srgbClr val="2C4066"/>
          </a:solidFill>
          <a:ln/>
        </p:spPr>
      </p:sp>
      <p:sp>
        <p:nvSpPr>
          <p:cNvPr id="29" name="Shape 27"/>
          <p:cNvSpPr/>
          <p:nvPr/>
        </p:nvSpPr>
        <p:spPr>
          <a:xfrm>
            <a:off x="6062472" y="2423160"/>
            <a:ext cx="292608" cy="1005840"/>
          </a:xfrm>
          <a:prstGeom prst="rect">
            <a:avLst/>
          </a:prstGeom>
          <a:solidFill>
            <a:srgbClr val="2C406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28232" y="2651760"/>
            <a:ext cx="292608" cy="777240"/>
          </a:xfrm>
          <a:prstGeom prst="rect">
            <a:avLst/>
          </a:prstGeom>
          <a:solidFill>
            <a:srgbClr val="2C4066"/>
          </a:solidFill>
          <a:ln/>
        </p:spPr>
      </p:sp>
      <p:sp>
        <p:nvSpPr>
          <p:cNvPr id="31" name="Shape 29"/>
          <p:cNvSpPr/>
          <p:nvPr/>
        </p:nvSpPr>
        <p:spPr>
          <a:xfrm>
            <a:off x="6793992" y="2240280"/>
            <a:ext cx="292608" cy="1188720"/>
          </a:xfrm>
          <a:prstGeom prst="rect">
            <a:avLst/>
          </a:prstGeom>
          <a:solidFill>
            <a:srgbClr val="2C4066"/>
          </a:solidFill>
          <a:ln/>
        </p:spPr>
      </p:sp>
      <p:sp>
        <p:nvSpPr>
          <p:cNvPr id="32" name="Shape 30"/>
          <p:cNvSpPr/>
          <p:nvPr/>
        </p:nvSpPr>
        <p:spPr>
          <a:xfrm>
            <a:off x="7159752" y="2560320"/>
            <a:ext cx="292608" cy="868680"/>
          </a:xfrm>
          <a:prstGeom prst="rect">
            <a:avLst/>
          </a:prstGeom>
          <a:solidFill>
            <a:srgbClr val="2C4066"/>
          </a:solidFill>
          <a:ln/>
        </p:spPr>
      </p:sp>
      <p:sp>
        <p:nvSpPr>
          <p:cNvPr id="33" name="Shape 31"/>
          <p:cNvSpPr/>
          <p:nvPr/>
        </p:nvSpPr>
        <p:spPr>
          <a:xfrm>
            <a:off x="7525512" y="2880360"/>
            <a:ext cx="292608" cy="548640"/>
          </a:xfrm>
          <a:prstGeom prst="rect">
            <a:avLst/>
          </a:prstGeom>
          <a:solidFill>
            <a:srgbClr val="2C4066"/>
          </a:solidFill>
          <a:ln/>
        </p:spPr>
      </p:sp>
      <p:sp>
        <p:nvSpPr>
          <p:cNvPr id="34" name="Shape 32"/>
          <p:cNvSpPr/>
          <p:nvPr/>
        </p:nvSpPr>
        <p:spPr>
          <a:xfrm>
            <a:off x="4233672" y="2834640"/>
            <a:ext cx="4160520" cy="502920"/>
          </a:xfrm>
          <a:prstGeom prst="rect">
            <a:avLst/>
          </a:prstGeom>
          <a:solidFill>
            <a:srgbClr val="9AA6B2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07992" y="2148840"/>
            <a:ext cx="3337560" cy="0"/>
          </a:xfrm>
          <a:prstGeom prst="line">
            <a:avLst/>
          </a:prstGeom>
          <a:noFill/>
          <a:ln w="19050">
            <a:solidFill>
              <a:srgbClr val="3E8E9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507992" y="2350008"/>
            <a:ext cx="3337560" cy="0"/>
          </a:xfrm>
          <a:prstGeom prst="line">
            <a:avLst/>
          </a:prstGeom>
          <a:noFill/>
          <a:ln w="19050">
            <a:solidFill>
              <a:srgbClr val="3E8E9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507992" y="2551176"/>
            <a:ext cx="3337560" cy="0"/>
          </a:xfrm>
          <a:prstGeom prst="line">
            <a:avLst/>
          </a:prstGeom>
          <a:noFill/>
          <a:ln w="19050">
            <a:solidFill>
              <a:srgbClr val="3E8E9E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4370832" y="3502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WEATHER COUPLED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FORECASTING PLATFORM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233672" y="40507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Stand Out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33672" y="4398264"/>
            <a:ext cx="4160520" cy="2139696"/>
          </a:xfrm>
          <a:prstGeom prst="rect">
            <a:avLst/>
          </a:prstGeom>
          <a:solidFill>
            <a:srgbClr val="FBEFE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79976" y="4507992"/>
            <a:ext cx="38679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Modeling: 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meteorological data (wind, inversion, humidity) with pollution sources (stubble fires, traffic, industry) in one ML pipeline.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Forecast Window: 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hyperlocal AQI up to 3 days ahead using LSTM models coupled with physics-based weather inputs.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Alerts: 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advisories to schools, hospitals, and municipal bodies before AQI crosses hazardous thresholds.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650224" y="1170432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8650224" y="16276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50224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8604504" y="21488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Sensing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9308592" y="160934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AQI, wind, humidity &amp; inversion data from ground IoT sensors.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50224" y="24963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650224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🛰️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8604504" y="3017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Fusion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9308592" y="24780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ISRO satellite feeds with ground data for wide-area coverage.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650224" y="336499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650224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8604504" y="38862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Tracking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9308592" y="334670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stubble-burning fire counts across Punjab &amp; Haryana in near real time.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650224" y="423367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650224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8604504" y="4754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Alerts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9308592" y="421538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overnight temperature inversions that trap pollutants near ground level.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650224" y="510235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650224" y="5084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📲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8604504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Alerts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9308592" y="508406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app &amp; government dashboard warnings for citizens and policymakers.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650224" y="59710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650224" y="5952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8604504" y="6492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Risk Score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9308592" y="595274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exposure scoring for children, elderly &amp; respiratory patients.</a:t>
            </a:r>
            <a:endParaRPr lang="en-US" sz="11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803A268B-77D1-A9FB-BF9C-9833C5753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101" y="18288"/>
            <a:ext cx="2055512" cy="9705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E8743B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2E9E52">
              <a:alpha val="6000"/>
            </a:srgbClr>
          </a:solidFill>
          <a:ln/>
        </p:spPr>
      </p:sp>
      <p:pic>
        <p:nvPicPr>
          <p:cNvPr id="5" name="Image 0" descr="/home/claude/slide/icons/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9776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9264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182880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651760" y="603504"/>
            <a:ext cx="6885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– Weather Coupled Forecasting System · Delhi NCR</a:t>
            </a:r>
            <a:endParaRPr lang="en-US" sz="1050" dirty="0"/>
          </a:p>
        </p:txBody>
      </p:sp>
      <p:pic>
        <p:nvPicPr>
          <p:cNvPr id="11" name="Image 1" descr="/home/claude/slide/icons/sm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3749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351008" y="2971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1402804" y="2478024"/>
            <a:ext cx="9386087" cy="12801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1466812" y="2487168"/>
            <a:ext cx="1878292" cy="109728"/>
          </a:xfrm>
          <a:prstGeom prst="rect">
            <a:avLst/>
          </a:prstGeom>
          <a:solidFill>
            <a:srgbClr val="2E9E52"/>
          </a:solidFill>
          <a:ln/>
        </p:spPr>
      </p:sp>
      <p:sp>
        <p:nvSpPr>
          <p:cNvPr id="16" name="Shape 12"/>
          <p:cNvSpPr/>
          <p:nvPr/>
        </p:nvSpPr>
        <p:spPr>
          <a:xfrm>
            <a:off x="3345104" y="2487168"/>
            <a:ext cx="2750744" cy="109728"/>
          </a:xfrm>
          <a:prstGeom prst="rect">
            <a:avLst/>
          </a:prstGeom>
          <a:solidFill>
            <a:srgbClr val="D6A93A"/>
          </a:solidFill>
          <a:ln/>
        </p:spPr>
      </p:sp>
      <p:sp>
        <p:nvSpPr>
          <p:cNvPr id="17" name="Shape 13"/>
          <p:cNvSpPr/>
          <p:nvPr/>
        </p:nvSpPr>
        <p:spPr>
          <a:xfrm>
            <a:off x="6095848" y="2487168"/>
            <a:ext cx="2750744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8" name="Shape 14"/>
          <p:cNvSpPr/>
          <p:nvPr/>
        </p:nvSpPr>
        <p:spPr>
          <a:xfrm>
            <a:off x="8846591" y="2487168"/>
            <a:ext cx="1878292" cy="109728"/>
          </a:xfrm>
          <a:prstGeom prst="rect">
            <a:avLst/>
          </a:prstGeom>
          <a:solidFill>
            <a:srgbClr val="C6373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162224" y="234086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5912968" y="234086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8663711" y="234086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731520" y="1188720"/>
            <a:ext cx="247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31520" y="1417320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1489672" y="2061972"/>
            <a:ext cx="960120" cy="960120"/>
          </a:xfrm>
          <a:prstGeom prst="ellipse">
            <a:avLst/>
          </a:prstGeom>
          <a:solidFill>
            <a:srgbClr val="2E9E52"/>
          </a:solidFill>
          <a:ln w="381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3A3A3A">
                <a:alpha val="32000"/>
              </a:srgbClr>
            </a:outerShdw>
          </a:effectLst>
        </p:spPr>
      </p:sp>
      <p:pic>
        <p:nvPicPr>
          <p:cNvPr id="25" name="Image 2" descr="/home/claude/slide/icons/satel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8904" y="2321204"/>
            <a:ext cx="441655" cy="44165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85800" y="312724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 Capture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50392" y="3566160"/>
            <a:ext cx="223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aerosol &amp; land imagery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PM2.5 / PM10 / NO₂ / SO₂ nodes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station feeds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3482264" y="1188720"/>
            <a:ext cx="247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6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3482264" y="1417320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4240416" y="2061972"/>
            <a:ext cx="960120" cy="960120"/>
          </a:xfrm>
          <a:prstGeom prst="ellipse">
            <a:avLst/>
          </a:prstGeom>
          <a:solidFill>
            <a:srgbClr val="D6A93A"/>
          </a:solidFill>
          <a:ln w="381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3A3A3A">
                <a:alpha val="32000"/>
              </a:srgbClr>
            </a:outerShdw>
          </a:effectLst>
        </p:spPr>
      </p:sp>
      <p:pic>
        <p:nvPicPr>
          <p:cNvPr id="31" name="Image 3" descr="/home/claude/slide/icons/fu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9648" y="2321204"/>
            <a:ext cx="441655" cy="44165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3436544" y="312724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Weather–Pollution Data Fusion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3601136" y="3566160"/>
            <a:ext cx="223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Time-aligned sensor + met. data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normalises &amp; fills gaps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into the ML pipeline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6233008" y="1188720"/>
            <a:ext cx="247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233008" y="1417320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6991159" y="2061972"/>
            <a:ext cx="960120" cy="960120"/>
          </a:xfrm>
          <a:prstGeom prst="ellipse">
            <a:avLst/>
          </a:prstGeom>
          <a:solidFill>
            <a:srgbClr val="E8743B"/>
          </a:solidFill>
          <a:ln w="381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3A3A3A">
                <a:alpha val="32000"/>
              </a:srgbClr>
            </a:outerShdw>
          </a:effectLst>
        </p:spPr>
      </p:sp>
      <p:pic>
        <p:nvPicPr>
          <p:cNvPr id="37" name="Image 4" descr="/home/claude/slide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0392" y="2321204"/>
            <a:ext cx="441655" cy="44165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187288" y="312724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AI/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Forecasting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6351880" y="3566160"/>
            <a:ext cx="223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LSTM–Transformer dispersion model</a:t>
            </a:r>
            <a:endParaRPr lang="en-US" sz="1050" dirty="0"/>
          </a:p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 hr AQI forecast engine</a:t>
            </a:r>
            <a:endParaRPr lang="en-US" sz="1050" dirty="0"/>
          </a:p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hotspot mapping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8983751" y="1188720"/>
            <a:ext cx="247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63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8983751" y="1417320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9741903" y="2061972"/>
            <a:ext cx="960120" cy="960120"/>
          </a:xfrm>
          <a:prstGeom prst="ellipse">
            <a:avLst/>
          </a:prstGeom>
          <a:solidFill>
            <a:srgbClr val="C6373F"/>
          </a:solidFill>
          <a:ln w="381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3A3A3A">
                <a:alpha val="32000"/>
              </a:srgbClr>
            </a:outerShdw>
          </a:effectLst>
        </p:spPr>
      </p:sp>
      <p:pic>
        <p:nvPicPr>
          <p:cNvPr id="43" name="Image 5" descr="/home/claude/slide/icons/b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136" y="2321204"/>
            <a:ext cx="441655" cy="441655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8938031" y="312724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Advisory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9102623" y="3566160"/>
            <a:ext cx="223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citizen alerts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industry advisories</a:t>
            </a:r>
            <a:endParaRPr lang="en-US" sz="1100" dirty="0"/>
          </a:p>
          <a:p>
            <a:pPr marL="152400" indent="-1524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for authorities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594360" y="4892040"/>
            <a:ext cx="11000232" cy="1051560"/>
          </a:xfrm>
          <a:prstGeom prst="roundRect">
            <a:avLst>
              <a:gd name="adj" fmla="val 8696"/>
            </a:avLst>
          </a:prstGeom>
          <a:solidFill>
            <a:srgbClr val="1B2A41"/>
          </a:solidFill>
          <a:ln/>
          <a:effectLst>
            <a:outerShdw blurRad="101600" dist="38100" dir="5400000" algn="bl" rotWithShape="0">
              <a:srgbClr val="1B2A41">
                <a:alpha val="40000"/>
              </a:srgbClr>
            </a:outerShdw>
          </a:effectLst>
        </p:spPr>
      </p:sp>
      <p:sp>
        <p:nvSpPr>
          <p:cNvPr id="47" name="Text 39"/>
          <p:cNvSpPr txBox="1"/>
          <p:nvPr/>
        </p:nvSpPr>
        <p:spPr>
          <a:xfrm>
            <a:off x="868680" y="45811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OUTPUT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905256" y="5161788"/>
            <a:ext cx="512064" cy="512064"/>
          </a:xfrm>
          <a:prstGeom prst="ellipse">
            <a:avLst/>
          </a:prstGeom>
          <a:solidFill>
            <a:srgbClr val="273954"/>
          </a:solidFill>
          <a:ln w="381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3A3A3A">
                <a:alpha val="32000"/>
              </a:srgbClr>
            </a:outerShdw>
          </a:effectLst>
        </p:spPr>
      </p:sp>
      <p:pic>
        <p:nvPicPr>
          <p:cNvPr id="49" name="Image 6" descr="/home/claude/slide/icons/gau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513" y="5300045"/>
            <a:ext cx="235549" cy="235549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508760" y="5074920"/>
            <a:ext cx="1698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AQI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1508760" y="5276088"/>
            <a:ext cx="1698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1700" dirty="0"/>
          </a:p>
        </p:txBody>
      </p:sp>
      <p:sp>
        <p:nvSpPr>
          <p:cNvPr id="52" name="Text 43"/>
          <p:cNvSpPr txBox="1"/>
          <p:nvPr/>
        </p:nvSpPr>
        <p:spPr>
          <a:xfrm>
            <a:off x="1508760" y="5641848"/>
            <a:ext cx="16984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C6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3344418" y="5056632"/>
            <a:ext cx="0" cy="722376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3655314" y="5161788"/>
            <a:ext cx="512064" cy="512064"/>
          </a:xfrm>
          <a:prstGeom prst="ellipse">
            <a:avLst/>
          </a:prstGeom>
          <a:solidFill>
            <a:srgbClr val="273954"/>
          </a:solidFill>
          <a:ln w="381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3A3A3A">
                <a:alpha val="32000"/>
              </a:srgbClr>
            </a:outerShdw>
          </a:effectLst>
        </p:spPr>
      </p:sp>
      <p:pic>
        <p:nvPicPr>
          <p:cNvPr id="55" name="Image 7" descr="/home/claude/slide/icons/c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3571" y="5300045"/>
            <a:ext cx="235549" cy="235549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4258818" y="5074920"/>
            <a:ext cx="1698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WINDOW</a:t>
            </a:r>
            <a:endParaRPr lang="en-US" sz="800" dirty="0"/>
          </a:p>
        </p:txBody>
      </p:sp>
      <p:sp>
        <p:nvSpPr>
          <p:cNvPr id="57" name="Text 47"/>
          <p:cNvSpPr txBox="1"/>
          <p:nvPr/>
        </p:nvSpPr>
        <p:spPr>
          <a:xfrm>
            <a:off x="4258818" y="5276088"/>
            <a:ext cx="1698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 hrs</a:t>
            </a:r>
            <a:endParaRPr lang="en-US" sz="1700" dirty="0"/>
          </a:p>
        </p:txBody>
      </p:sp>
      <p:sp>
        <p:nvSpPr>
          <p:cNvPr id="58" name="Shape 48"/>
          <p:cNvSpPr/>
          <p:nvPr/>
        </p:nvSpPr>
        <p:spPr>
          <a:xfrm>
            <a:off x="6094476" y="5056632"/>
            <a:ext cx="0" cy="722376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6405372" y="5161788"/>
            <a:ext cx="512064" cy="512064"/>
          </a:xfrm>
          <a:prstGeom prst="ellipse">
            <a:avLst/>
          </a:prstGeom>
          <a:solidFill>
            <a:srgbClr val="273954"/>
          </a:solidFill>
          <a:ln w="381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3A3A3A">
                <a:alpha val="32000"/>
              </a:srgbClr>
            </a:outerShdw>
          </a:effectLst>
        </p:spPr>
      </p:sp>
      <p:pic>
        <p:nvPicPr>
          <p:cNvPr id="60" name="Image 8" descr="/home/claude/slide/icons/sig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29" y="5300045"/>
            <a:ext cx="235549" cy="235549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7008876" y="5074920"/>
            <a:ext cx="1698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800" dirty="0"/>
          </a:p>
        </p:txBody>
      </p:sp>
      <p:sp>
        <p:nvSpPr>
          <p:cNvPr id="62" name="Text 51"/>
          <p:cNvSpPr txBox="1"/>
          <p:nvPr/>
        </p:nvSpPr>
        <p:spPr>
          <a:xfrm>
            <a:off x="7008876" y="5276088"/>
            <a:ext cx="1698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700" dirty="0"/>
          </a:p>
        </p:txBody>
      </p:sp>
      <p:sp>
        <p:nvSpPr>
          <p:cNvPr id="63" name="Shape 52"/>
          <p:cNvSpPr/>
          <p:nvPr/>
        </p:nvSpPr>
        <p:spPr>
          <a:xfrm>
            <a:off x="8844534" y="5056632"/>
            <a:ext cx="0" cy="722376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9155430" y="5161788"/>
            <a:ext cx="512064" cy="512064"/>
          </a:xfrm>
          <a:prstGeom prst="ellipse">
            <a:avLst/>
          </a:prstGeom>
          <a:solidFill>
            <a:srgbClr val="273954"/>
          </a:solidFill>
          <a:ln w="381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3A3A3A">
                <a:alpha val="32000"/>
              </a:srgbClr>
            </a:outerShdw>
          </a:effectLst>
        </p:spPr>
      </p:sp>
      <p:pic>
        <p:nvPicPr>
          <p:cNvPr id="65" name="Image 9" descr="/home/claude/slide/icons/mapmark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3687" y="5300045"/>
            <a:ext cx="235549" cy="235549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9758934" y="5074920"/>
            <a:ext cx="1698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 dirty="0"/>
          </a:p>
        </p:txBody>
      </p:sp>
      <p:sp>
        <p:nvSpPr>
          <p:cNvPr id="67" name="Text 55"/>
          <p:cNvSpPr txBox="1"/>
          <p:nvPr/>
        </p:nvSpPr>
        <p:spPr>
          <a:xfrm>
            <a:off x="9758934" y="5276088"/>
            <a:ext cx="1698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</a:t>
            </a:r>
            <a:endParaRPr lang="en-US" sz="1700" dirty="0"/>
          </a:p>
        </p:txBody>
      </p:sp>
      <p:sp>
        <p:nvSpPr>
          <p:cNvPr id="68" name="Text 56"/>
          <p:cNvSpPr txBox="1"/>
          <p:nvPr/>
        </p:nvSpPr>
        <p:spPr>
          <a:xfrm>
            <a:off x="9758934" y="5641848"/>
            <a:ext cx="16984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hotspots</a:t>
            </a:r>
            <a:endParaRPr lang="en-US" sz="850" dirty="0"/>
          </a:p>
        </p:txBody>
      </p:sp>
      <p:sp>
        <p:nvSpPr>
          <p:cNvPr id="69" name="Text 57"/>
          <p:cNvSpPr txBox="1"/>
          <p:nvPr/>
        </p:nvSpPr>
        <p:spPr>
          <a:xfrm>
            <a:off x="594360" y="614476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pipeline — from satellite &amp; IoT sensing to coupled weather–pollution AI forecasting to real-time public advisories across Delhi NCR.</a:t>
            </a:r>
            <a:endParaRPr lang="en-US" sz="9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F5CB638B-C97A-D431-D79C-00CDCD8E2A1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101" y="18288"/>
            <a:ext cx="2055512" cy="970574"/>
          </a:xfrm>
          <a:prstGeom prst="rect">
            <a:avLst/>
          </a:prstGeom>
        </p:spPr>
      </p:pic>
      <p:sp>
        <p:nvSpPr>
          <p:cNvPr id="73" name="Shape 0">
            <a:extLst>
              <a:ext uri="{FF2B5EF4-FFF2-40B4-BE49-F238E27FC236}">
                <a16:creationId xmlns:a16="http://schemas.microsoft.com/office/drawing/2014/main" id="{8AD24C2E-E46D-AE31-C936-448321552E66}"/>
              </a:ext>
            </a:extLst>
          </p:cNvPr>
          <p:cNvSpPr/>
          <p:nvPr/>
        </p:nvSpPr>
        <p:spPr>
          <a:xfrm>
            <a:off x="365760" y="2560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5" name="Text 2">
            <a:extLst>
              <a:ext uri="{FF2B5EF4-FFF2-40B4-BE49-F238E27FC236}">
                <a16:creationId xmlns:a16="http://schemas.microsoft.com/office/drawing/2014/main" id="{5BFB8BEA-C0B5-AC44-B03F-77E0998E27DD}"/>
              </a:ext>
            </a:extLst>
          </p:cNvPr>
          <p:cNvSpPr txBox="1"/>
          <p:nvPr/>
        </p:nvSpPr>
        <p:spPr>
          <a:xfrm>
            <a:off x="91440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TechForge</a:t>
            </a:r>
            <a:endParaRPr lang="en-US" sz="1500" dirty="0"/>
          </a:p>
        </p:txBody>
      </p:sp>
      <p:sp>
        <p:nvSpPr>
          <p:cNvPr id="77" name="Text 3">
            <a:extLst>
              <a:ext uri="{FF2B5EF4-FFF2-40B4-BE49-F238E27FC236}">
                <a16:creationId xmlns:a16="http://schemas.microsoft.com/office/drawing/2014/main" id="{4D2B31ED-513F-78B9-F04E-1D3324F54314}"/>
              </a:ext>
            </a:extLst>
          </p:cNvPr>
          <p:cNvSpPr txBox="1"/>
          <p:nvPr/>
        </p:nvSpPr>
        <p:spPr>
          <a:xfrm>
            <a:off x="914400" y="530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79" name="Text 1">
            <a:extLst>
              <a:ext uri="{FF2B5EF4-FFF2-40B4-BE49-F238E27FC236}">
                <a16:creationId xmlns:a16="http://schemas.microsoft.com/office/drawing/2014/main" id="{264C1F1E-61FE-E422-630A-22B031DE770B}"/>
              </a:ext>
            </a:extLst>
          </p:cNvPr>
          <p:cNvSpPr txBox="1"/>
          <p:nvPr/>
        </p:nvSpPr>
        <p:spPr>
          <a:xfrm>
            <a:off x="36576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</a:t>
            </a:r>
            <a:endParaRPr lang="en-US" sz="16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46DD66C4-5F13-1ED0-C334-234884875AA0}"/>
              </a:ext>
            </a:extLst>
          </p:cNvPr>
          <p:cNvSpPr/>
          <p:nvPr/>
        </p:nvSpPr>
        <p:spPr>
          <a:xfrm>
            <a:off x="281354" y="987552"/>
            <a:ext cx="11416535" cy="31154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987552" y="3291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7745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57200" y="1115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1408176"/>
            <a:ext cx="3246120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1499616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ML core built on proven weather-reanalysis (ERA5) + CPCB API data — no bespoke hardware research needed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microservices (Python/TensorFlow) with lightweight edge inference on ESP32-class sensor nodes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ingestion layer already handles IMD, CPCB, satellite &amp; citizen-sensor formats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11155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 FEASIBILITY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977640" y="1408176"/>
            <a:ext cx="4251960" cy="0"/>
          </a:xfrm>
          <a:prstGeom prst="line">
            <a:avLst/>
          </a:prstGeom>
          <a:noFill/>
          <a:ln w="12700">
            <a:solidFill>
              <a:srgbClr val="7C5CB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31920" y="1499616"/>
            <a:ext cx="4343400" cy="1417320"/>
          </a:xfrm>
          <a:prstGeom prst="roundRect">
            <a:avLst>
              <a:gd name="adj" fmla="val 2581"/>
            </a:avLst>
          </a:prstGeom>
          <a:ln w="12700">
            <a:solidFill>
              <a:srgbClr val="7C5CBF"/>
            </a:solidFill>
            <a:prstDash val="dash"/>
          </a:ln>
        </p:spPr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3977640" y="1591056"/>
          <a:ext cx="4251960" cy="128016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88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Current Govt Monitoring</a:t>
                      </a:r>
                      <a:endParaRPr lang="en-US" sz="88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TechForge System</a:t>
                      </a:r>
                      <a:endParaRPr lang="en-US" sz="88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Forecast Lead Time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24 hr (persistence)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72 hr coupled forecast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Spatial Resolution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City-level (~40 stations)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Ward-level, 500 m grid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Cost / Monitoring Point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₹25–40 lakh (CAAQMS)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₹8–12k (IoT node)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Source Identification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Manual, delayed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Real-time ML split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8503920" y="1115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SAFETY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503920" y="1408176"/>
            <a:ext cx="3246120" cy="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503920" y="1499616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edge nodes with 3-day battery backup — minimal field visits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Self-calibrating sensors auto-flag drift, preserving data integrity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cloud + on-device fallback models prevent forecast blackouts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703320" y="2121408"/>
            <a:ext cx="182880" cy="0"/>
          </a:xfrm>
          <a:prstGeom prst="line">
            <a:avLst/>
          </a:prstGeom>
          <a:noFill/>
          <a:ln w="22225">
            <a:solidFill>
              <a:srgbClr val="F2994A"/>
            </a:solidFill>
            <a:prstDash val="sysDot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321040" y="2121408"/>
            <a:ext cx="182880" cy="0"/>
          </a:xfrm>
          <a:prstGeom prst="line">
            <a:avLst/>
          </a:prstGeom>
          <a:noFill/>
          <a:ln w="22225">
            <a:solidFill>
              <a:srgbClr val="1B9C6E"/>
            </a:solidFill>
            <a:prstDash val="sysDot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365760" y="3493008"/>
            <a:ext cx="11460175" cy="0"/>
          </a:xfrm>
          <a:prstGeom prst="line">
            <a:avLst/>
          </a:prstGeom>
          <a:noFill/>
          <a:ln w="12700">
            <a:solidFill>
              <a:srgbClr val="DCE2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7200" y="3703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&amp; OPERATIONAL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57200" y="3995928"/>
            <a:ext cx="3246120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4087368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cost under ₹15 lakh for 50-node NCR coverage; opex &lt; ₹50k/month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via avoided health costs &amp; lockdown losses within one winter season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app + IVR ensures reach beyond smartphone users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3977640" y="37033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VIABILITY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3977640" y="3995928"/>
            <a:ext cx="4251960" cy="0"/>
          </a:xfrm>
          <a:prstGeom prst="line">
            <a:avLst/>
          </a:prstGeom>
          <a:noFill/>
          <a:ln w="12700">
            <a:solidFill>
              <a:srgbClr val="7C5CB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931920" y="4087368"/>
            <a:ext cx="4343400" cy="1417320"/>
          </a:xfrm>
          <a:prstGeom prst="roundRect">
            <a:avLst>
              <a:gd name="adj" fmla="val 2581"/>
            </a:avLst>
          </a:prstGeom>
          <a:ln w="12700">
            <a:solidFill>
              <a:srgbClr val="7C5CBF"/>
            </a:solidFill>
            <a:prstDash val="dash"/>
          </a:ln>
        </p:spPr>
      </p:sp>
      <p:graphicFrame>
        <p:nvGraphicFramePr>
          <p:cNvPr id="30" name="Table 1"/>
          <p:cNvGraphicFramePr>
            <a:graphicFrameLocks noGrp="1"/>
          </p:cNvGraphicFramePr>
          <p:nvPr/>
        </p:nvGraphicFramePr>
        <p:xfrm>
          <a:off x="3977640" y="4178808"/>
          <a:ext cx="4251960" cy="12801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88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Support Element</a:t>
                      </a:r>
                      <a:endParaRPr lang="en-US" sz="88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Data Availability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CPCB, IMD, ISRO Bhuvan &amp; OpenAQ APIs already public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5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Model Deployment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Cloud + Docker, CI/CD-ready pipeline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Hardware Sourcing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ESP32 + PM sensors from Indian vendors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Deployment Readiness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3223B"/>
                          </a:solidFill>
                        </a:rPr>
                        <a:t>Validated on 2023-24 winter data; pilot-ready in 4 months</a:t>
                      </a:r>
                      <a:endParaRPr lang="en-US" sz="86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26"/>
          <p:cNvSpPr txBox="1"/>
          <p:nvPr/>
        </p:nvSpPr>
        <p:spPr>
          <a:xfrm>
            <a:off x="8503920" y="3703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B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VIABILITY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503920" y="3995928"/>
            <a:ext cx="3246120" cy="0"/>
          </a:xfrm>
          <a:prstGeom prst="line">
            <a:avLst/>
          </a:prstGeom>
          <a:noFill/>
          <a:ln w="12700">
            <a:solidFill>
              <a:srgbClr val="1B9C6E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503920" y="4087368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earlier GRAP enforcement, cutting peak-day pollutant exposure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data-driven stubble-burning &amp; construction-ban decisions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NCAP &amp; Digital India — encourages citizen-sensor crowdsourcing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703320" y="4709160"/>
            <a:ext cx="182880" cy="0"/>
          </a:xfrm>
          <a:prstGeom prst="line">
            <a:avLst/>
          </a:prstGeom>
          <a:noFill/>
          <a:ln w="22225">
            <a:solidFill>
              <a:srgbClr val="F2994A"/>
            </a:solidFill>
            <a:prstDash val="sysDot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8321040" y="4709160"/>
            <a:ext cx="182880" cy="0"/>
          </a:xfrm>
          <a:prstGeom prst="line">
            <a:avLst/>
          </a:prstGeom>
          <a:noFill/>
          <a:ln w="22225">
            <a:solidFill>
              <a:srgbClr val="1B9C6E"/>
            </a:solidFill>
            <a:prstDash val="sysDot"/>
            <a:tailEnd type="triangle"/>
          </a:ln>
        </p:spPr>
      </p:sp>
      <p:sp>
        <p:nvSpPr>
          <p:cNvPr id="36" name="Text 31"/>
          <p:cNvSpPr txBox="1"/>
          <p:nvPr/>
        </p:nvSpPr>
        <p:spPr>
          <a:xfrm>
            <a:off x="457200" y="654710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11002975" y="65471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02</a:t>
            </a:r>
            <a:endParaRPr lang="en-US" sz="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EBB92C0-735D-2F4E-3D0A-BB72BC8B8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394" y="1501"/>
            <a:ext cx="1912542" cy="903066"/>
          </a:xfrm>
          <a:prstGeom prst="rect">
            <a:avLst/>
          </a:prstGeom>
        </p:spPr>
      </p:pic>
      <p:sp>
        <p:nvSpPr>
          <p:cNvPr id="41" name="Text 2">
            <a:extLst>
              <a:ext uri="{FF2B5EF4-FFF2-40B4-BE49-F238E27FC236}">
                <a16:creationId xmlns:a16="http://schemas.microsoft.com/office/drawing/2014/main" id="{F833FE3C-BAC0-59CB-96CE-1A2AC8D219E0}"/>
              </a:ext>
            </a:extLst>
          </p:cNvPr>
          <p:cNvSpPr txBox="1"/>
          <p:nvPr/>
        </p:nvSpPr>
        <p:spPr>
          <a:xfrm>
            <a:off x="727587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TechForge</a:t>
            </a:r>
            <a:endParaRPr lang="en-US" sz="1500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1CADD96C-6513-F341-9269-8300921BF9B4}"/>
              </a:ext>
            </a:extLst>
          </p:cNvPr>
          <p:cNvSpPr txBox="1"/>
          <p:nvPr/>
        </p:nvSpPr>
        <p:spPr>
          <a:xfrm>
            <a:off x="759710" y="530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97BC53AE-6047-5AFD-A04E-2049DAF6011A}"/>
              </a:ext>
            </a:extLst>
          </p:cNvPr>
          <p:cNvSpPr/>
          <p:nvPr/>
        </p:nvSpPr>
        <p:spPr>
          <a:xfrm>
            <a:off x="238264" y="2560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7AC6460F-80FB-336E-A887-6540B4741DEB}"/>
              </a:ext>
            </a:extLst>
          </p:cNvPr>
          <p:cNvSpPr txBox="1"/>
          <p:nvPr/>
        </p:nvSpPr>
        <p:spPr>
          <a:xfrm>
            <a:off x="233432" y="2550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</a:t>
            </a:r>
            <a:endParaRPr lang="en-US" sz="1600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A5D3ABE1-C9C3-6742-355D-21524DF71B7E}"/>
              </a:ext>
            </a:extLst>
          </p:cNvPr>
          <p:cNvSpPr/>
          <p:nvPr/>
        </p:nvSpPr>
        <p:spPr>
          <a:xfrm>
            <a:off x="281354" y="987552"/>
            <a:ext cx="11416535" cy="31154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E3AD71-D7DF-12BB-0D37-1255AC1F540B}"/>
              </a:ext>
            </a:extLst>
          </p:cNvPr>
          <p:cNvSpPr txBox="1"/>
          <p:nvPr/>
        </p:nvSpPr>
        <p:spPr>
          <a:xfrm>
            <a:off x="2431925" y="682078"/>
            <a:ext cx="6885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– Weather Coupled Forecasting System · Delhi NCR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987552" y="3291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00185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IMPACTS AND BENEFITS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784080" y="274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188720"/>
            <a:ext cx="3639312" cy="148132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13533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14545"/>
          </a:solidFill>
          <a:ln/>
        </p:spPr>
      </p:sp>
      <p:pic>
        <p:nvPicPr>
          <p:cNvPr id="13" name="Image 1" descr="/home/claude/build/icons/lun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0817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07008" y="133502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21792" y="175564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Advance, hyperlocal warnings let vulnerable groups — children, elderly, asthma &amp; cardiac patients — cut exposure before an episode peaks.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261104" y="1188720"/>
            <a:ext cx="3639312" cy="148132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25696" y="13533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7C5CBF"/>
          </a:solidFill>
          <a:ln/>
        </p:spPr>
      </p:sp>
      <p:pic>
        <p:nvPicPr>
          <p:cNvPr id="18" name="Image 2" descr="/home/claude/build/icons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40817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10912" y="133502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Governance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425696" y="175564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CAQM &amp; Delhi govt ward-level, data-backed triggers for GRAP stages — evidence instead of reactive, city-wide guesswork.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8065008" y="1188720"/>
            <a:ext cx="3639312" cy="148132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0" y="13533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2994A"/>
          </a:solidFill>
          <a:ln/>
        </p:spPr>
      </p:sp>
      <p:pic>
        <p:nvPicPr>
          <p:cNvPr id="23" name="Image 3" descr="/home/claude/build/icons/rupe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140817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14816" y="133502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Value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0" y="175564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action avoids blanket construction/industry shutdowns, protecting daily-wage incomes while still cutting emissions fast.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457200" y="2834640"/>
            <a:ext cx="3639312" cy="148132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21792" y="29992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9C6E"/>
          </a:solidFill>
          <a:ln/>
        </p:spPr>
      </p:sp>
      <p:pic>
        <p:nvPicPr>
          <p:cNvPr id="28" name="Image 4" descr="/home/claude/build/icons/fir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3054096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07008" y="298094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Livelihoods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621792" y="340156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Source-apportionment isolates the real stubble-burning share — enabling targeted incentives instead of blanket penalties on farmers.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4261104" y="2834640"/>
            <a:ext cx="3639312" cy="148132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25696" y="29992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A86FF"/>
          </a:solidFill>
          <a:ln/>
        </p:spPr>
      </p:sp>
      <p:pic>
        <p:nvPicPr>
          <p:cNvPr id="33" name="Image 5" descr="/home/claude/build/icons/wi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3054096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010912" y="298094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Gain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4425696" y="340156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GRAP enforcement responds to the actual pollutant mix and wind pattern, not a fixed calendar — faster air-quality recovery.</a:t>
            </a:r>
            <a:endParaRPr lang="en-US" sz="930" dirty="0"/>
          </a:p>
        </p:txBody>
      </p:sp>
      <p:sp>
        <p:nvSpPr>
          <p:cNvPr id="36" name="Shape 28"/>
          <p:cNvSpPr/>
          <p:nvPr/>
        </p:nvSpPr>
        <p:spPr>
          <a:xfrm>
            <a:off x="8065008" y="2834640"/>
            <a:ext cx="3639312" cy="1481328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229600" y="29992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/>
        </p:spPr>
      </p:sp>
      <p:pic>
        <p:nvPicPr>
          <p:cNvPr id="38" name="Image 6" descr="/home/claude/build/icons/mobi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3054096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814816" y="298094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Empowerment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8229600" y="340156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72-hr forecast in-app, SMS &amp; IVR lets 3 crore+ residents plan commutes, school hours and outdoor activity around real air quality.</a:t>
            </a:r>
            <a:endParaRPr lang="en-US" sz="930" dirty="0"/>
          </a:p>
        </p:txBody>
      </p:sp>
      <p:sp>
        <p:nvSpPr>
          <p:cNvPr id="41" name="Shape 32"/>
          <p:cNvSpPr/>
          <p:nvPr/>
        </p:nvSpPr>
        <p:spPr>
          <a:xfrm>
            <a:off x="457200" y="4681728"/>
            <a:ext cx="2627300" cy="896112"/>
          </a:xfrm>
          <a:prstGeom prst="roundRect">
            <a:avLst>
              <a:gd name="adj" fmla="val 9184"/>
            </a:avLst>
          </a:prstGeom>
          <a:solidFill>
            <a:srgbClr val="132A4C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40080" y="4791456"/>
            <a:ext cx="2307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hrs</a:t>
            </a:r>
            <a:endParaRPr lang="en-US" sz="1800" dirty="0"/>
          </a:p>
        </p:txBody>
      </p:sp>
      <p:sp>
        <p:nvSpPr>
          <p:cNvPr id="43" name="Text 34"/>
          <p:cNvSpPr txBox="1"/>
          <p:nvPr/>
        </p:nvSpPr>
        <p:spPr>
          <a:xfrm>
            <a:off x="640080" y="5175504"/>
            <a:ext cx="230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action window before an AQI spike</a:t>
            </a:r>
            <a:endParaRPr lang="en-US" sz="830" dirty="0"/>
          </a:p>
        </p:txBody>
      </p:sp>
      <p:sp>
        <p:nvSpPr>
          <p:cNvPr id="44" name="Shape 35"/>
          <p:cNvSpPr/>
          <p:nvPr/>
        </p:nvSpPr>
        <p:spPr>
          <a:xfrm>
            <a:off x="3340532" y="4681728"/>
            <a:ext cx="2627300" cy="896112"/>
          </a:xfrm>
          <a:prstGeom prst="roundRect">
            <a:avLst>
              <a:gd name="adj" fmla="val 9184"/>
            </a:avLst>
          </a:prstGeom>
          <a:solidFill>
            <a:srgbClr val="132A4C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3523412" y="4791456"/>
            <a:ext cx="2307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1800" dirty="0"/>
          </a:p>
        </p:txBody>
      </p:sp>
      <p:sp>
        <p:nvSpPr>
          <p:cNvPr id="46" name="Text 37"/>
          <p:cNvSpPr txBox="1"/>
          <p:nvPr/>
        </p:nvSpPr>
        <p:spPr>
          <a:xfrm>
            <a:off x="3523412" y="5175504"/>
            <a:ext cx="230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targeted than city-wide GRAP triggers</a:t>
            </a:r>
            <a:endParaRPr lang="en-US" sz="830" dirty="0"/>
          </a:p>
        </p:txBody>
      </p:sp>
      <p:sp>
        <p:nvSpPr>
          <p:cNvPr id="47" name="Shape 38"/>
          <p:cNvSpPr/>
          <p:nvPr/>
        </p:nvSpPr>
        <p:spPr>
          <a:xfrm>
            <a:off x="6223864" y="4681728"/>
            <a:ext cx="2627300" cy="896112"/>
          </a:xfrm>
          <a:prstGeom prst="roundRect">
            <a:avLst>
              <a:gd name="adj" fmla="val 9184"/>
            </a:avLst>
          </a:prstGeom>
          <a:solidFill>
            <a:srgbClr val="132A4C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6406744" y="4791456"/>
            <a:ext cx="2307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Cr+</a:t>
            </a:r>
            <a:endParaRPr lang="en-US" sz="1800" dirty="0"/>
          </a:p>
        </p:txBody>
      </p:sp>
      <p:sp>
        <p:nvSpPr>
          <p:cNvPr id="49" name="Text 40"/>
          <p:cNvSpPr txBox="1"/>
          <p:nvPr/>
        </p:nvSpPr>
        <p:spPr>
          <a:xfrm>
            <a:off x="6406744" y="5175504"/>
            <a:ext cx="230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residents reachable via app / SMS / IVR</a:t>
            </a:r>
            <a:endParaRPr lang="en-US" sz="830" dirty="0"/>
          </a:p>
        </p:txBody>
      </p:sp>
      <p:sp>
        <p:nvSpPr>
          <p:cNvPr id="50" name="Shape 41"/>
          <p:cNvSpPr/>
          <p:nvPr/>
        </p:nvSpPr>
        <p:spPr>
          <a:xfrm>
            <a:off x="9107195" y="4681728"/>
            <a:ext cx="2627300" cy="896112"/>
          </a:xfrm>
          <a:prstGeom prst="roundRect">
            <a:avLst>
              <a:gd name="adj" fmla="val 9184"/>
            </a:avLst>
          </a:prstGeom>
          <a:solidFill>
            <a:srgbClr val="132A4C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9290075" y="4791456"/>
            <a:ext cx="2307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1800" dirty="0"/>
          </a:p>
        </p:txBody>
      </p:sp>
      <p:sp>
        <p:nvSpPr>
          <p:cNvPr id="52" name="Text 43"/>
          <p:cNvSpPr txBox="1"/>
          <p:nvPr/>
        </p:nvSpPr>
        <p:spPr>
          <a:xfrm>
            <a:off x="9290075" y="5175504"/>
            <a:ext cx="230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exposure days for high-risk groups each winter</a:t>
            </a:r>
            <a:endParaRPr lang="en-US" sz="830" dirty="0"/>
          </a:p>
        </p:txBody>
      </p:sp>
      <p:sp>
        <p:nvSpPr>
          <p:cNvPr id="54" name="Text 45"/>
          <p:cNvSpPr txBox="1"/>
          <p:nvPr/>
        </p:nvSpPr>
        <p:spPr>
          <a:xfrm>
            <a:off x="11002975" y="65471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F9D4C26-2C7A-1E14-458E-0B4172666F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722" y="11616"/>
            <a:ext cx="1873213" cy="884496"/>
          </a:xfrm>
          <a:prstGeom prst="rect">
            <a:avLst/>
          </a:prstGeom>
        </p:spPr>
      </p:pic>
      <p:sp>
        <p:nvSpPr>
          <p:cNvPr id="58" name="Text 2">
            <a:extLst>
              <a:ext uri="{FF2B5EF4-FFF2-40B4-BE49-F238E27FC236}">
                <a16:creationId xmlns:a16="http://schemas.microsoft.com/office/drawing/2014/main" id="{51021394-EABF-502B-B859-B29A9992CB3F}"/>
              </a:ext>
            </a:extLst>
          </p:cNvPr>
          <p:cNvSpPr txBox="1"/>
          <p:nvPr/>
        </p:nvSpPr>
        <p:spPr>
          <a:xfrm>
            <a:off x="727587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TechForge</a:t>
            </a:r>
            <a:endParaRPr lang="en-US" sz="1500" dirty="0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65D11BBF-0790-0D60-710E-E4798634D99C}"/>
              </a:ext>
            </a:extLst>
          </p:cNvPr>
          <p:cNvSpPr txBox="1"/>
          <p:nvPr/>
        </p:nvSpPr>
        <p:spPr>
          <a:xfrm>
            <a:off x="766130" y="5394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8221E9E6-7B06-21A2-AE6A-A449806E0CBC}"/>
              </a:ext>
            </a:extLst>
          </p:cNvPr>
          <p:cNvSpPr/>
          <p:nvPr/>
        </p:nvSpPr>
        <p:spPr>
          <a:xfrm>
            <a:off x="241480" y="2560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D06CFA-63AB-ADF4-6086-4BBD4FCAAA8E}"/>
              </a:ext>
            </a:extLst>
          </p:cNvPr>
          <p:cNvSpPr txBox="1"/>
          <p:nvPr/>
        </p:nvSpPr>
        <p:spPr>
          <a:xfrm>
            <a:off x="233432" y="2550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TF</a:t>
            </a: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819DA3F8-6C68-DCF4-729B-6660B0B30D76}"/>
              </a:ext>
            </a:extLst>
          </p:cNvPr>
          <p:cNvSpPr/>
          <p:nvPr/>
        </p:nvSpPr>
        <p:spPr>
          <a:xfrm>
            <a:off x="365760" y="1005840"/>
            <a:ext cx="114300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76410DB9-AD04-500C-AB4D-678B5B7E6EB8}"/>
              </a:ext>
            </a:extLst>
          </p:cNvPr>
          <p:cNvSpPr txBox="1"/>
          <p:nvPr/>
        </p:nvSpPr>
        <p:spPr>
          <a:xfrm>
            <a:off x="2589618" y="703105"/>
            <a:ext cx="6885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– Weather Coupled Forecasting System · Delhi NCR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sih_logo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320040"/>
            <a:ext cx="1810512" cy="8394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5438" y="764065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19179" y="1438558"/>
            <a:ext cx="11277295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9448" y="1806481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INSIGHTS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57200" y="25694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7132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60704" y="2542032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60704" y="2816352"/>
            <a:ext cx="5934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experiences high variability in PM</a:t>
            </a:r>
            <a:r>
              <a:rPr lang="en-US" sz="1100" baseline="-40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PM</a:t>
            </a:r>
            <a:r>
              <a:rPr lang="en-US" sz="1100" baseline="-40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</a:t>
            </a:r>
            <a:r>
              <a:rPr lang="en-US" sz="1100" baseline="-40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</a:t>
            </a:r>
            <a:r>
              <a:rPr lang="en-US" sz="1100" baseline="-40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influenced by seasonality, traffic and emissions.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630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56082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60704" y="3602736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Coupling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060704" y="3877056"/>
            <a:ext cx="5934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temperature, humidity and rainfall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influence pollutant dispersion, accumulation and washout.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690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96B24">
              <a:alpha val="12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60704" y="4663440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060704" y="4937760"/>
            <a:ext cx="5934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models capture complex </a:t>
            </a: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and spatiotemporal patterns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short-term air-quality prediction.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5751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02B93">
              <a:alpha val="12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5751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2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60704" y="5724144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060704" y="5998464"/>
            <a:ext cx="5934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</a:t>
            </a: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+ Weather + Spatial + Traffic data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generate </a:t>
            </a: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1–72 hour forecasts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early warnings.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299655" y="2039112"/>
            <a:ext cx="4434840" cy="4224528"/>
          </a:xfrm>
          <a:prstGeom prst="roundRect">
            <a:avLst>
              <a:gd name="adj" fmla="val 1948"/>
            </a:avLst>
          </a:prstGeom>
          <a:solidFill>
            <a:srgbClr val="F4F6F8"/>
          </a:solidFill>
          <a:ln/>
          <a:effectLst>
            <a:outerShdw blurRad="101600" dist="25400" dir="5400000" algn="bl" rotWithShape="0">
              <a:srgbClr val="9AA5B1">
                <a:alpha val="2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589520" y="2386584"/>
            <a:ext cx="3849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589520" y="2889504"/>
            <a:ext cx="310896" cy="310896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589520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028432" y="2834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028432" y="3081528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Air Quality Index &amp; monitoring data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589520" y="3465576"/>
            <a:ext cx="3849624" cy="0"/>
          </a:xfrm>
          <a:prstGeom prst="line">
            <a:avLst/>
          </a:prstGeom>
          <a:noFill/>
          <a:ln w="9525">
            <a:solidFill>
              <a:srgbClr val="DDE2E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89520" y="3547872"/>
            <a:ext cx="310896" cy="310896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58952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028432" y="349300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028432" y="3739896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 observations &amp; forecast data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589520" y="4123944"/>
            <a:ext cx="3849624" cy="0"/>
          </a:xfrm>
          <a:prstGeom prst="line">
            <a:avLst/>
          </a:prstGeom>
          <a:noFill/>
          <a:ln w="9525">
            <a:solidFill>
              <a:srgbClr val="DDE2E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589520" y="4206240"/>
            <a:ext cx="310896" cy="310896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58952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028432" y="4151376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8028432" y="4398264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Guidelines &amp; pollutant limits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589520" y="4782312"/>
            <a:ext cx="3849624" cy="0"/>
          </a:xfrm>
          <a:prstGeom prst="line">
            <a:avLst/>
          </a:prstGeom>
          <a:noFill/>
          <a:ln w="9525">
            <a:solidFill>
              <a:srgbClr val="DDE2E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589520" y="4864608"/>
            <a:ext cx="310896" cy="310896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58952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8028432" y="480974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Research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8028432" y="5056632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ML/DL-based PM2.5 forecasting studies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589520" y="5440680"/>
            <a:ext cx="3849624" cy="0"/>
          </a:xfrm>
          <a:prstGeom prst="line">
            <a:avLst/>
          </a:prstGeom>
          <a:noFill/>
          <a:ln w="9525">
            <a:solidFill>
              <a:srgbClr val="DDE2E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589520" y="5522976"/>
            <a:ext cx="310896" cy="310896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589520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8028432" y="54681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</a:t>
            </a:r>
            <a:endParaRPr lang="en-US" sz="1250" dirty="0"/>
          </a:p>
        </p:txBody>
      </p:sp>
      <p:sp>
        <p:nvSpPr>
          <p:cNvPr id="52" name="Text 49"/>
          <p:cNvSpPr txBox="1"/>
          <p:nvPr/>
        </p:nvSpPr>
        <p:spPr>
          <a:xfrm>
            <a:off x="8028432" y="57150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Aerosol &amp; atmospheric observations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11548872" y="65379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23E142BF-80E1-371A-2A34-B315D7710C8A}"/>
              </a:ext>
            </a:extLst>
          </p:cNvPr>
          <p:cNvSpPr txBox="1">
            <a:spLocks/>
          </p:cNvSpPr>
          <p:nvPr/>
        </p:nvSpPr>
        <p:spPr>
          <a:xfrm>
            <a:off x="576072" y="-214884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endParaRPr lang="en-US" sz="3200" b="1" dirty="0">
              <a:solidFill>
                <a:schemeClr val="tx2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RESEARCH</a:t>
            </a: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REFERENCES</a:t>
            </a:r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C18BF023-3F9A-F81E-4DAA-84009B68EB8A}"/>
              </a:ext>
            </a:extLst>
          </p:cNvPr>
          <p:cNvSpPr txBox="1"/>
          <p:nvPr/>
        </p:nvSpPr>
        <p:spPr>
          <a:xfrm>
            <a:off x="727587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TechForge</a:t>
            </a:r>
            <a:endParaRPr lang="en-US" sz="1500" dirty="0"/>
          </a:p>
        </p:txBody>
      </p:sp>
      <p:sp>
        <p:nvSpPr>
          <p:cNvPr id="74" name="Text 3">
            <a:extLst>
              <a:ext uri="{FF2B5EF4-FFF2-40B4-BE49-F238E27FC236}">
                <a16:creationId xmlns:a16="http://schemas.microsoft.com/office/drawing/2014/main" id="{833D1EAE-5264-9D70-F6A2-A9FD028EA92C}"/>
              </a:ext>
            </a:extLst>
          </p:cNvPr>
          <p:cNvSpPr txBox="1"/>
          <p:nvPr/>
        </p:nvSpPr>
        <p:spPr>
          <a:xfrm>
            <a:off x="766130" y="5394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80" name="Text 1">
            <a:extLst>
              <a:ext uri="{FF2B5EF4-FFF2-40B4-BE49-F238E27FC236}">
                <a16:creationId xmlns:a16="http://schemas.microsoft.com/office/drawing/2014/main" id="{D8BAEFAC-C9AB-AECB-B37A-8CC101EFC857}"/>
              </a:ext>
            </a:extLst>
          </p:cNvPr>
          <p:cNvSpPr txBox="1"/>
          <p:nvPr/>
        </p:nvSpPr>
        <p:spPr>
          <a:xfrm>
            <a:off x="385832" y="4074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</a:t>
            </a:r>
            <a:endParaRPr lang="en-US" sz="1600" dirty="0"/>
          </a:p>
        </p:txBody>
      </p:sp>
      <p:sp>
        <p:nvSpPr>
          <p:cNvPr id="82" name="Text 1">
            <a:extLst>
              <a:ext uri="{FF2B5EF4-FFF2-40B4-BE49-F238E27FC236}">
                <a16:creationId xmlns:a16="http://schemas.microsoft.com/office/drawing/2014/main" id="{B98078E3-C220-F1BD-1BAF-6A6DF7736967}"/>
              </a:ext>
            </a:extLst>
          </p:cNvPr>
          <p:cNvSpPr txBox="1"/>
          <p:nvPr/>
        </p:nvSpPr>
        <p:spPr>
          <a:xfrm>
            <a:off x="538232" y="5598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</a:t>
            </a:r>
            <a:endParaRPr lang="en-US" sz="1600" dirty="0"/>
          </a:p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181509D5-AE5D-B00E-815F-3366757F09A3}"/>
              </a:ext>
            </a:extLst>
          </p:cNvPr>
          <p:cNvSpPr/>
          <p:nvPr/>
        </p:nvSpPr>
        <p:spPr>
          <a:xfrm>
            <a:off x="238264" y="2560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033E9621-1888-169A-B210-34E223EC3E8D}"/>
              </a:ext>
            </a:extLst>
          </p:cNvPr>
          <p:cNvSpPr txBox="1"/>
          <p:nvPr/>
        </p:nvSpPr>
        <p:spPr>
          <a:xfrm>
            <a:off x="233432" y="2550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TF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C3FA0398-3690-E527-F179-E528E9FECAB2}"/>
              </a:ext>
            </a:extLst>
          </p:cNvPr>
          <p:cNvSpPr txBox="1"/>
          <p:nvPr/>
        </p:nvSpPr>
        <p:spPr>
          <a:xfrm>
            <a:off x="1627000" y="887331"/>
            <a:ext cx="6885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</a:t>
            </a: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</a:t>
            </a: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Weather Coupled Forecasting System · Delhi NCR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7789</TotalTime>
  <Words>1122</Words>
  <Application>Microsoft Office PowerPoint</Application>
  <PresentationFormat>Widescreen</PresentationFormat>
  <Paragraphs>208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Siva Prasantham</cp:lastModifiedBy>
  <cp:revision>180</cp:revision>
  <dcterms:created xsi:type="dcterms:W3CDTF">2013-12-12T18:46:50Z</dcterms:created>
  <dcterms:modified xsi:type="dcterms:W3CDTF">2026-08-30T06:35:12Z</dcterms:modified>
  <cp:category/>
</cp:coreProperties>
</file>