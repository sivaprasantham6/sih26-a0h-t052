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8"/>
  </p:notesMasterIdLst>
  <p:sldIdLst>
    <p:sldId id="291" r:id="rId2"/>
    <p:sldId id="281" r:id="rId3"/>
    <p:sldId id="290" r:id="rId4"/>
    <p:sldId id="293" r:id="rId5"/>
    <p:sldId id="258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964" autoAdjust="0"/>
    <p:restoredTop sz="94660"/>
  </p:normalViewPr>
  <p:slideViewPr>
    <p:cSldViewPr snapToGrid="0" snapToObjects="1">
      <p:cViewPr varScale="1">
        <p:scale>
          <a:sx n="70" d="100"/>
          <a:sy n="70" d="100"/>
        </p:scale>
        <p:origin x="1306" y="6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9/14/2026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9/14/2026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9/14/2026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9/14/2026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8693630" y="2783149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425949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35790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88550" y="1404579"/>
            <a:ext cx="9144000" cy="5425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ID - SIH26131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Title - Early detection and management of crop diseases and pest infestations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Theme - Agriculture, </a:t>
            </a:r>
            <a:r>
              <a:rPr lang="en-US" sz="2400" b="1" dirty="0" err="1">
                <a:latin typeface="Arial" panose="020B0604020202020204" pitchFamily="34" charset="0"/>
                <a:cs typeface="Arial" panose="020B0604020202020204" pitchFamily="34" charset="0"/>
              </a:rPr>
              <a:t>FoodTech</a:t>
            </a: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 &amp; Rural Development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PS Category- Software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Team ID - SIH26-A0H-T052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Team Name - TECH FORGE</a:t>
            </a:r>
            <a:endParaRPr lang="en-IN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/>
            <a:br>
              <a:rPr lang="en-US" sz="3600" b="1" dirty="0">
                <a:latin typeface="+mn-lt"/>
                <a:ea typeface="ＭＳ Ｐゴシック" pitchFamily="1" charset="-128"/>
                <a:cs typeface="Times New Roman" panose="02020603050405020304" pitchFamily="18" charset="0"/>
              </a:rPr>
            </a:br>
            <a:r>
              <a:rPr lang="en-US" sz="3600" b="1" dirty="0">
                <a:latin typeface="+mn-lt"/>
                <a:ea typeface="ＭＳ Ｐゴシック" pitchFamily="1" charset="-128"/>
                <a:cs typeface="Times New Roman" panose="02020603050405020304" pitchFamily="18" charset="0"/>
              </a:rPr>
              <a:t>IDEA TITLE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599916" y="5190067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dirty="0"/>
              <a:t>TECH FORGE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F669206-2BEA-4635-4868-1286144087A4}"/>
              </a:ext>
            </a:extLst>
          </p:cNvPr>
          <p:cNvSpPr/>
          <p:nvPr/>
        </p:nvSpPr>
        <p:spPr>
          <a:xfrm>
            <a:off x="104069" y="2399189"/>
            <a:ext cx="3855862" cy="1935004"/>
          </a:xfrm>
          <a:prstGeom prst="roundRect">
            <a:avLst/>
          </a:prstGeom>
          <a:solidFill>
            <a:srgbClr val="39B0D4"/>
          </a:solidFill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IN" dirty="0"/>
              <a:t>🌱 PROPOSED SOLUTION</a:t>
            </a:r>
          </a:p>
          <a:p>
            <a:endParaRPr lang="en-IN" sz="1600" dirty="0"/>
          </a:p>
          <a:p>
            <a:r>
              <a:rPr lang="en-IN" sz="1600" dirty="0"/>
              <a:t>• AI-based crop disease &amp; pest detection</a:t>
            </a:r>
            <a:br>
              <a:rPr lang="en-IN" sz="1600" dirty="0"/>
            </a:br>
            <a:r>
              <a:rPr lang="en-IN" sz="1600" dirty="0"/>
              <a:t>• Upload/capture crop images</a:t>
            </a:r>
            <a:br>
              <a:rPr lang="en-IN" sz="1600" dirty="0"/>
            </a:br>
            <a:r>
              <a:rPr lang="en-IN" sz="1600" dirty="0"/>
              <a:t>• Identifies disease/pest and severity</a:t>
            </a:r>
            <a:br>
              <a:rPr lang="en-IN" sz="1600" dirty="0"/>
            </a:br>
            <a:r>
              <a:rPr lang="en-IN" sz="1600" dirty="0"/>
              <a:t>• Provides timely alerts &amp; recommendations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9F0C26E3-92ED-5B5D-BADE-8212C1C3A9FD}"/>
              </a:ext>
            </a:extLst>
          </p:cNvPr>
          <p:cNvSpPr/>
          <p:nvPr/>
        </p:nvSpPr>
        <p:spPr>
          <a:xfrm>
            <a:off x="8232069" y="2399189"/>
            <a:ext cx="3855862" cy="1935004"/>
          </a:xfrm>
          <a:prstGeom prst="roundRect">
            <a:avLst/>
          </a:prstGeom>
          <a:solidFill>
            <a:srgbClr val="39B0D4"/>
          </a:solidFill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IN" sz="1600" b="1" dirty="0"/>
              <a:t>💡 INNOVATION &amp; UNIQUENESS</a:t>
            </a:r>
          </a:p>
          <a:p>
            <a:endParaRPr lang="en-IN" sz="1600" dirty="0"/>
          </a:p>
          <a:p>
            <a:r>
              <a:rPr lang="en-IN" sz="1600" dirty="0"/>
              <a:t>• AI-powered image analysis</a:t>
            </a:r>
            <a:br>
              <a:rPr lang="en-IN" sz="1600" dirty="0"/>
            </a:br>
            <a:r>
              <a:rPr lang="en-IN" sz="1600" dirty="0"/>
              <a:t>• Early-warning approach</a:t>
            </a:r>
            <a:br>
              <a:rPr lang="en-IN" sz="1600" dirty="0"/>
            </a:br>
            <a:r>
              <a:rPr lang="en-IN" sz="1600" dirty="0"/>
              <a:t>• Severity-based risk alerts</a:t>
            </a:r>
            <a:br>
              <a:rPr lang="en-IN" sz="1600" dirty="0"/>
            </a:br>
            <a:r>
              <a:rPr lang="en-IN" sz="1600" dirty="0"/>
              <a:t>• Smart &amp; farmer-friendly solution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62E13745-2FFB-5218-1A2F-A12739A493B8}"/>
              </a:ext>
            </a:extLst>
          </p:cNvPr>
          <p:cNvSpPr/>
          <p:nvPr/>
        </p:nvSpPr>
        <p:spPr>
          <a:xfrm>
            <a:off x="4168069" y="2399189"/>
            <a:ext cx="3855862" cy="1935004"/>
          </a:xfrm>
          <a:prstGeom prst="roundRect">
            <a:avLst/>
          </a:prstGeom>
          <a:solidFill>
            <a:srgbClr val="39B0D4"/>
          </a:solidFill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IN" sz="1600" b="1" dirty="0"/>
              <a:t>🎯 HOW IT ADDRESSES THE PROBLEM</a:t>
            </a:r>
          </a:p>
          <a:p>
            <a:endParaRPr lang="en-IN" sz="1600" dirty="0"/>
          </a:p>
          <a:p>
            <a:r>
              <a:rPr lang="en-IN" sz="1600" dirty="0"/>
              <a:t>• Enables early detection</a:t>
            </a:r>
            <a:br>
              <a:rPr lang="en-IN" sz="1600" dirty="0"/>
            </a:br>
            <a:r>
              <a:rPr lang="en-IN" sz="1600" dirty="0"/>
              <a:t>• Helps prevent major crop damage</a:t>
            </a:r>
            <a:br>
              <a:rPr lang="en-IN" sz="1600" dirty="0"/>
            </a:br>
            <a:r>
              <a:rPr lang="en-IN" sz="1600" dirty="0"/>
              <a:t>• Supports timely intervention</a:t>
            </a:r>
            <a:br>
              <a:rPr lang="en-IN" sz="1600" dirty="0"/>
            </a:br>
            <a:r>
              <a:rPr lang="en-IN" sz="1600" dirty="0"/>
              <a:t>• Reduces unnecessary pesticide use</a:t>
            </a:r>
          </a:p>
          <a:p>
            <a:pPr algn="ctr"/>
            <a:endParaRPr lang="en-IN" sz="1600" b="1" dirty="0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BD0D3071-0655-0797-1F05-03B5CFF5CD9F}"/>
              </a:ext>
            </a:extLst>
          </p:cNvPr>
          <p:cNvSpPr/>
          <p:nvPr/>
        </p:nvSpPr>
        <p:spPr>
          <a:xfrm>
            <a:off x="57630" y="5453063"/>
            <a:ext cx="2091694" cy="660400"/>
          </a:xfrm>
          <a:prstGeom prst="roundRect">
            <a:avLst/>
          </a:prstGeom>
          <a:solidFill>
            <a:schemeClr val="accent3"/>
          </a:solidFill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b="1" dirty="0"/>
              <a:t>📷 Capture Crop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B8E8C6A8-F370-32EE-FE3F-DA88FA8E57AD}"/>
              </a:ext>
            </a:extLst>
          </p:cNvPr>
          <p:cNvSpPr/>
          <p:nvPr/>
        </p:nvSpPr>
        <p:spPr>
          <a:xfrm>
            <a:off x="9861165" y="5453063"/>
            <a:ext cx="2091694" cy="660400"/>
          </a:xfrm>
          <a:prstGeom prst="roundRect">
            <a:avLst/>
          </a:prstGeom>
          <a:solidFill>
            <a:schemeClr val="accent3"/>
          </a:solidFill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b="1" dirty="0"/>
              <a:t>📱 Alert &amp; Action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88361A85-1BE5-8352-10F0-173E6226FA45}"/>
              </a:ext>
            </a:extLst>
          </p:cNvPr>
          <p:cNvSpPr/>
          <p:nvPr/>
        </p:nvSpPr>
        <p:spPr>
          <a:xfrm>
            <a:off x="7410282" y="5453063"/>
            <a:ext cx="2091694" cy="660400"/>
          </a:xfrm>
          <a:prstGeom prst="roundRect">
            <a:avLst/>
          </a:prstGeom>
          <a:solidFill>
            <a:schemeClr val="accent3"/>
          </a:solidFill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b="1" dirty="0"/>
              <a:t>⚠️ Risk &amp; Severity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D1414FEA-DC54-E3EB-002A-BCBF350DF6A7}"/>
              </a:ext>
            </a:extLst>
          </p:cNvPr>
          <p:cNvSpPr/>
          <p:nvPr/>
        </p:nvSpPr>
        <p:spPr>
          <a:xfrm>
            <a:off x="4959398" y="5453063"/>
            <a:ext cx="2091694" cy="660400"/>
          </a:xfrm>
          <a:prstGeom prst="roundRect">
            <a:avLst/>
          </a:prstGeom>
          <a:solidFill>
            <a:schemeClr val="accent3"/>
          </a:solidFill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b="1" dirty="0"/>
              <a:t>🔍 Disease / Pest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0BBAF9A-C7A1-EDA0-D2C4-1D154A27AD8A}"/>
              </a:ext>
            </a:extLst>
          </p:cNvPr>
          <p:cNvSpPr/>
          <p:nvPr/>
        </p:nvSpPr>
        <p:spPr>
          <a:xfrm>
            <a:off x="2508514" y="5453063"/>
            <a:ext cx="2091694" cy="660400"/>
          </a:xfrm>
          <a:prstGeom prst="roundRect">
            <a:avLst/>
          </a:prstGeom>
          <a:solidFill>
            <a:schemeClr val="accent3"/>
          </a:solidFill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b="1" dirty="0"/>
              <a:t>🤖 AI Detection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C07DB00B-B5FD-FB5B-0834-699C95108E0C}"/>
              </a:ext>
            </a:extLst>
          </p:cNvPr>
          <p:cNvCxnSpPr>
            <a:stCxn id="18" idx="3"/>
            <a:endCxn id="22" idx="1"/>
          </p:cNvCxnSpPr>
          <p:nvPr/>
        </p:nvCxnSpPr>
        <p:spPr>
          <a:xfrm>
            <a:off x="2149324" y="5783263"/>
            <a:ext cx="359190" cy="0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arrow" w="med" len="med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865011A1-26C3-6F85-EF4C-FE878DD1DA9C}"/>
              </a:ext>
            </a:extLst>
          </p:cNvPr>
          <p:cNvCxnSpPr/>
          <p:nvPr/>
        </p:nvCxnSpPr>
        <p:spPr>
          <a:xfrm>
            <a:off x="4600208" y="5783263"/>
            <a:ext cx="381348" cy="0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arrow" w="med" len="med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3E8025E8-2524-5A22-B521-9C852B456572}"/>
              </a:ext>
            </a:extLst>
          </p:cNvPr>
          <p:cNvCxnSpPr/>
          <p:nvPr/>
        </p:nvCxnSpPr>
        <p:spPr>
          <a:xfrm>
            <a:off x="7051092" y="5783263"/>
            <a:ext cx="381348" cy="0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arrow" w="med" len="med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B7546ECB-218E-A8ED-4273-18AB2D310169}"/>
              </a:ext>
            </a:extLst>
          </p:cNvPr>
          <p:cNvCxnSpPr/>
          <p:nvPr/>
        </p:nvCxnSpPr>
        <p:spPr>
          <a:xfrm>
            <a:off x="9501976" y="5783263"/>
            <a:ext cx="381348" cy="0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5B42B7CB-6584-D6B9-9C80-ADE12B1E012A}"/>
              </a:ext>
            </a:extLst>
          </p:cNvPr>
          <p:cNvSpPr txBox="1"/>
          <p:nvPr/>
        </p:nvSpPr>
        <p:spPr>
          <a:xfrm>
            <a:off x="1828800" y="165100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IN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F4434AF-9A2C-512E-2FE8-6F14D3406828}"/>
              </a:ext>
            </a:extLst>
          </p:cNvPr>
          <p:cNvSpPr txBox="1"/>
          <p:nvPr/>
        </p:nvSpPr>
        <p:spPr>
          <a:xfrm>
            <a:off x="4597447" y="4751931"/>
            <a:ext cx="3206469" cy="369332"/>
          </a:xfrm>
          <a:prstGeom prst="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IN" b="1" dirty="0"/>
              <a:t>HOW AGRISHIELD AI WORKS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3BE2DCF-B43D-D772-9B67-D5E8F702BF86}"/>
              </a:ext>
            </a:extLst>
          </p:cNvPr>
          <p:cNvSpPr txBox="1"/>
          <p:nvPr/>
        </p:nvSpPr>
        <p:spPr>
          <a:xfrm>
            <a:off x="3399588" y="1417151"/>
            <a:ext cx="5392823" cy="707886"/>
          </a:xfrm>
          <a:prstGeom prst="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IN" sz="2000" b="1" dirty="0">
                <a:ea typeface="Cambria" panose="02040503050406030204" pitchFamily="18" charset="0"/>
              </a:rPr>
              <a:t>AGRISHIELD AI</a:t>
            </a:r>
          </a:p>
          <a:p>
            <a:pPr algn="ctr"/>
            <a:r>
              <a:rPr lang="en-IN" sz="2000" b="1" dirty="0"/>
              <a:t>AI-POWERED EARLY CROP HEALTH MONITORING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 dirty="0">
                <a:solidFill>
                  <a:schemeClr val="bg1"/>
                </a:solidFill>
              </a:rPr>
              <a:t>@SIH Idea submission- Template</a:t>
            </a: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TECH FORGE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E94C5E1-8D77-F01F-8E18-82BE7DC417AA}"/>
              </a:ext>
            </a:extLst>
          </p:cNvPr>
          <p:cNvSpPr txBox="1"/>
          <p:nvPr/>
        </p:nvSpPr>
        <p:spPr>
          <a:xfrm>
            <a:off x="500743" y="1359451"/>
            <a:ext cx="6096000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2000" b="1" dirty="0"/>
              <a:t>Technologies Used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b="1" dirty="0"/>
              <a:t>AI &amp; Deep Learning:</a:t>
            </a:r>
            <a:r>
              <a:rPr lang="en-IN" dirty="0"/>
              <a:t> CNN/YOLO models for crop disease and pest identification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b="1" dirty="0"/>
              <a:t>Computer Vision:</a:t>
            </a:r>
            <a:r>
              <a:rPr lang="en-IN" dirty="0"/>
              <a:t> Image-based analysis of infected leaves and crops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b="1" dirty="0"/>
              <a:t>Machine Learning:</a:t>
            </a:r>
            <a:r>
              <a:rPr lang="en-IN" dirty="0"/>
              <a:t> Disease prediction using environmental and crop data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b="1" dirty="0"/>
              <a:t>IoT Sensors:</a:t>
            </a:r>
            <a:r>
              <a:rPr lang="en-IN" dirty="0"/>
              <a:t> Monitoring temperature, humidity, soil moisture, and weather conditions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b="1" dirty="0"/>
              <a:t>Cloud Platform:</a:t>
            </a:r>
            <a:r>
              <a:rPr lang="en-IN" dirty="0"/>
              <a:t> Data storage, model training, and real-time recommendations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b="1" dirty="0"/>
              <a:t>Mobile Application:</a:t>
            </a:r>
            <a:r>
              <a:rPr lang="en-IN" dirty="0"/>
              <a:t> Farmer-friendly interface for disease scanning and alerts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B6BF727-F56C-A632-25B5-7C8A2A5C60E8}"/>
              </a:ext>
            </a:extLst>
          </p:cNvPr>
          <p:cNvSpPr txBox="1"/>
          <p:nvPr/>
        </p:nvSpPr>
        <p:spPr>
          <a:xfrm>
            <a:off x="7260771" y="1413880"/>
            <a:ext cx="4538422" cy="3416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2000" b="1" dirty="0"/>
              <a:t>Workflow:</a:t>
            </a:r>
            <a:endParaRPr lang="en-IN" sz="2000" dirty="0"/>
          </a:p>
          <a:p>
            <a:r>
              <a:rPr lang="en-IN" dirty="0"/>
              <a:t>📷 Crop Image</a:t>
            </a:r>
            <a:br>
              <a:rPr lang="en-IN" dirty="0"/>
            </a:br>
            <a:r>
              <a:rPr lang="en-IN" dirty="0"/>
              <a:t>⬇️</a:t>
            </a:r>
            <a:br>
              <a:rPr lang="en-IN" dirty="0"/>
            </a:br>
            <a:r>
              <a:rPr lang="en-IN" dirty="0"/>
              <a:t>🧠 AI Model Processing</a:t>
            </a:r>
            <a:br>
              <a:rPr lang="en-IN" dirty="0"/>
            </a:br>
            <a:r>
              <a:rPr lang="en-IN" dirty="0"/>
              <a:t>⬇️</a:t>
            </a:r>
            <a:br>
              <a:rPr lang="en-IN" dirty="0"/>
            </a:br>
            <a:r>
              <a:rPr lang="en-IN" dirty="0"/>
              <a:t>🔍 Disease/Pest Identification</a:t>
            </a:r>
            <a:br>
              <a:rPr lang="en-IN" dirty="0"/>
            </a:br>
            <a:r>
              <a:rPr lang="en-IN" dirty="0"/>
              <a:t>⬇️</a:t>
            </a:r>
            <a:br>
              <a:rPr lang="en-IN" dirty="0"/>
            </a:br>
            <a:r>
              <a:rPr lang="en-IN" dirty="0"/>
              <a:t>📊 Severity Assessment</a:t>
            </a:r>
            <a:br>
              <a:rPr lang="en-IN" dirty="0"/>
            </a:br>
            <a:r>
              <a:rPr lang="en-IN" dirty="0"/>
              <a:t>⬇️</a:t>
            </a:r>
            <a:br>
              <a:rPr lang="en-IN" dirty="0"/>
            </a:br>
            <a:r>
              <a:rPr lang="en-IN" dirty="0"/>
              <a:t>🌱 Suggested Remedy + Preventive Measures</a:t>
            </a:r>
            <a:br>
              <a:rPr lang="en-IN" dirty="0"/>
            </a:br>
            <a:r>
              <a:rPr lang="en-IN" dirty="0"/>
              <a:t>⬇️</a:t>
            </a:r>
            <a:br>
              <a:rPr lang="en-IN" dirty="0"/>
            </a:br>
            <a:r>
              <a:rPr lang="en-IN" dirty="0"/>
              <a:t>🔔 Early Warning Alerts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4583811-82A5-23E8-3B91-622AAECCF5CD}"/>
              </a:ext>
            </a:extLst>
          </p:cNvPr>
          <p:cNvSpPr txBox="1"/>
          <p:nvPr/>
        </p:nvSpPr>
        <p:spPr>
          <a:xfrm>
            <a:off x="601916" y="5353903"/>
            <a:ext cx="10913565" cy="6771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2000" b="1" dirty="0"/>
              <a:t>Implementation Methodology</a:t>
            </a:r>
          </a:p>
          <a:p>
            <a:r>
              <a:rPr lang="en-IN" b="1" dirty="0"/>
              <a:t>Farmer → Mobile App → Image Capture → AI Disease Detection → Risk Analysis → Treatment Recommendation</a:t>
            </a:r>
            <a:endParaRPr lang="en-IN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TECH FORGE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0B20556-0242-617B-A9BC-6E0FC7F7DE51}"/>
              </a:ext>
            </a:extLst>
          </p:cNvPr>
          <p:cNvSpPr txBox="1"/>
          <p:nvPr/>
        </p:nvSpPr>
        <p:spPr>
          <a:xfrm>
            <a:off x="809361" y="1602205"/>
            <a:ext cx="8323754" cy="4708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000" b="1" dirty="0"/>
              <a:t>🚀 Solution Feasibility</a:t>
            </a:r>
          </a:p>
          <a:p>
            <a:r>
              <a:rPr lang="en-IN" sz="2000" dirty="0"/>
              <a:t>• AI-powered disease detection enables fast and accurate crop monitoring.</a:t>
            </a:r>
            <a:br>
              <a:rPr lang="en-IN" sz="2000" dirty="0"/>
            </a:br>
            <a:r>
              <a:rPr lang="en-IN" sz="2000" dirty="0"/>
              <a:t>• Smartphone-based scanning makes the solution affordable and farmer-friendly.</a:t>
            </a:r>
            <a:br>
              <a:rPr lang="en-IN" sz="2000" dirty="0"/>
            </a:br>
            <a:r>
              <a:rPr lang="en-IN" sz="2000" dirty="0"/>
              <a:t>• AI + IoT + weather data supports early disease prediction.</a:t>
            </a:r>
          </a:p>
          <a:p>
            <a:r>
              <a:rPr lang="en-IN" sz="2000" b="1" dirty="0"/>
              <a:t>⚠️ Challenges &amp; Solutions</a:t>
            </a:r>
          </a:p>
          <a:p>
            <a:r>
              <a:rPr lang="en-IN" sz="2000" dirty="0"/>
              <a:t>• Poor image quality → AI-based image enhancement</a:t>
            </a:r>
            <a:br>
              <a:rPr lang="en-IN" sz="2000" dirty="0"/>
            </a:br>
            <a:r>
              <a:rPr lang="en-IN" sz="2000" dirty="0"/>
              <a:t>• Limited datasets → Continuous data collection &amp; training</a:t>
            </a:r>
            <a:br>
              <a:rPr lang="en-IN" sz="2000" dirty="0"/>
            </a:br>
            <a:r>
              <a:rPr lang="en-IN" sz="2000" dirty="0"/>
              <a:t>• Low connectivity → Offline support system</a:t>
            </a:r>
            <a:br>
              <a:rPr lang="en-IN" sz="2000" dirty="0"/>
            </a:br>
            <a:r>
              <a:rPr lang="en-IN" sz="2000" dirty="0"/>
              <a:t>• Crop variations → Adaptive AI models</a:t>
            </a:r>
          </a:p>
          <a:p>
            <a:r>
              <a:rPr lang="en-IN" sz="2000" b="1" dirty="0"/>
              <a:t>🌱 Future Viability</a:t>
            </a:r>
          </a:p>
          <a:p>
            <a:r>
              <a:rPr lang="en-IN" sz="2000" dirty="0"/>
              <a:t>• Reduces crop losses and pesticide usage.</a:t>
            </a:r>
            <a:br>
              <a:rPr lang="en-IN" sz="2000" dirty="0"/>
            </a:br>
            <a:r>
              <a:rPr lang="en-IN" sz="2000" dirty="0"/>
              <a:t>• Improves farmer productivity with timely alerts.</a:t>
            </a:r>
            <a:br>
              <a:rPr lang="en-IN" sz="2000" dirty="0"/>
            </a:br>
            <a:r>
              <a:rPr lang="en-IN" sz="2000" dirty="0"/>
              <a:t>• Scalable for multiple crops and regions.</a:t>
            </a:r>
          </a:p>
          <a:p>
            <a:endParaRPr lang="en-IN" sz="2000" dirty="0"/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8AFCE67E-66BB-B108-F445-5068BA906C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45" y="0"/>
            <a:ext cx="12171111" cy="68580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A41602A-9622-FDAC-5C1F-34B681F87A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22423" y="468"/>
            <a:ext cx="2457450" cy="1085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70733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dirty="0"/>
              <a:t>TECH</a:t>
            </a:r>
          </a:p>
          <a:p>
            <a:pPr algn="ctr"/>
            <a:r>
              <a:rPr lang="en-IN" dirty="0"/>
              <a:t>FORGE</a:t>
            </a: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548640" y="1325880"/>
            <a:ext cx="5440680" cy="4480560"/>
          </a:xfrm>
          <a:prstGeom prst="roundRect">
            <a:avLst/>
          </a:prstGeom>
          <a:solidFill>
            <a:srgbClr val="FFFFFF"/>
          </a:solidFill>
          <a:ln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11" name="TextBox 17410"/>
          <p:cNvSpPr txBox="1"/>
          <p:nvPr/>
        </p:nvSpPr>
        <p:spPr>
          <a:xfrm>
            <a:off x="747423" y="1554479"/>
            <a:ext cx="4684548" cy="3377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43755"/>
                </a:solidFill>
              </a:defRPr>
            </a:pPr>
            <a:r>
              <a:rPr sz="1600" dirty="0"/>
              <a:t>RESEARCH SOURCES</a:t>
            </a:r>
          </a:p>
          <a:p>
            <a:pPr>
              <a:spcAft>
                <a:spcPts val="900"/>
              </a:spcAft>
              <a:defRPr sz="1250">
                <a:solidFill>
                  <a:srgbClr val="2D3741"/>
                </a:solidFill>
              </a:defRPr>
            </a:pPr>
            <a:r>
              <a:rPr sz="1600" dirty="0"/>
              <a:t>• ICAR – Crop diseases, pest management and agricultural practices</a:t>
            </a:r>
          </a:p>
          <a:p>
            <a:pPr>
              <a:spcAft>
                <a:spcPts val="900"/>
              </a:spcAft>
              <a:defRPr sz="1250">
                <a:solidFill>
                  <a:srgbClr val="2D3741"/>
                </a:solidFill>
              </a:defRPr>
            </a:pPr>
            <a:r>
              <a:rPr sz="1600" dirty="0"/>
              <a:t>• FAO – Crop health, pests and sustainable agriculture</a:t>
            </a:r>
          </a:p>
          <a:p>
            <a:pPr>
              <a:spcAft>
                <a:spcPts val="900"/>
              </a:spcAft>
              <a:defRPr sz="1250">
                <a:solidFill>
                  <a:srgbClr val="2D3741"/>
                </a:solidFill>
              </a:defRPr>
            </a:pPr>
            <a:r>
              <a:rPr sz="1600" dirty="0"/>
              <a:t>• Plant</a:t>
            </a:r>
            <a:r>
              <a:rPr lang="en-IN" sz="1600" dirty="0"/>
              <a:t> </a:t>
            </a:r>
            <a:r>
              <a:rPr sz="1600" dirty="0"/>
              <a:t>Village – Crop-disease image datasets and AI identification </a:t>
            </a:r>
            <a:r>
              <a:rPr lang="en-IN" sz="1600" dirty="0"/>
              <a:t>     </a:t>
            </a:r>
            <a:r>
              <a:rPr sz="1600" dirty="0"/>
              <a:t>research</a:t>
            </a:r>
          </a:p>
          <a:p>
            <a:pPr>
              <a:spcAft>
                <a:spcPts val="900"/>
              </a:spcAft>
              <a:defRPr sz="1250">
                <a:solidFill>
                  <a:srgbClr val="2D3741"/>
                </a:solidFill>
              </a:defRPr>
            </a:pPr>
            <a:r>
              <a:rPr sz="1600" dirty="0"/>
              <a:t>• Kaggle – Plant disease and pest image datasets for ML research</a:t>
            </a:r>
          </a:p>
          <a:p>
            <a:pPr>
              <a:spcAft>
                <a:spcPts val="900"/>
              </a:spcAft>
              <a:defRPr sz="1250">
                <a:solidFill>
                  <a:srgbClr val="2D3741"/>
                </a:solidFill>
              </a:defRPr>
            </a:pPr>
            <a:r>
              <a:rPr sz="1600" dirty="0"/>
              <a:t>• Research Papers &amp; Journals – Computer Vision, Deep Learning and </a:t>
            </a:r>
            <a:endParaRPr lang="en-IN" sz="1600" dirty="0"/>
          </a:p>
          <a:p>
            <a:pPr>
              <a:spcAft>
                <a:spcPts val="900"/>
              </a:spcAft>
              <a:defRPr sz="1250">
                <a:solidFill>
                  <a:srgbClr val="2D3741"/>
                </a:solidFill>
              </a:defRPr>
            </a:pPr>
            <a:r>
              <a:rPr sz="1600" dirty="0"/>
              <a:t>CNN-based detection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6263640" y="1325880"/>
            <a:ext cx="5303520" cy="4480560"/>
          </a:xfrm>
          <a:prstGeom prst="roundRect">
            <a:avLst/>
          </a:prstGeom>
          <a:solidFill>
            <a:srgbClr val="FFFFFF"/>
          </a:solidFill>
          <a:ln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13" name="TextBox 17412"/>
          <p:cNvSpPr txBox="1"/>
          <p:nvPr/>
        </p:nvSpPr>
        <p:spPr>
          <a:xfrm>
            <a:off x="6537960" y="1554479"/>
            <a:ext cx="4554583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43755"/>
                </a:solidFill>
              </a:defRPr>
            </a:pPr>
            <a:r>
              <a:rPr lang="en-US" sz="1600" dirty="0"/>
              <a:t>KEY RESEARCH AREAS</a:t>
            </a:r>
          </a:p>
          <a:p>
            <a:pPr>
              <a:spcAft>
                <a:spcPts val="800"/>
              </a:spcAft>
              <a:defRPr sz="1250">
                <a:solidFill>
                  <a:srgbClr val="2D3741"/>
                </a:solidFill>
              </a:defRPr>
            </a:pPr>
            <a:r>
              <a:rPr lang="en-US" sz="1600" dirty="0"/>
              <a:t>• Early visual identification of crop diseases</a:t>
            </a:r>
          </a:p>
          <a:p>
            <a:pPr>
              <a:spcAft>
                <a:spcPts val="800"/>
              </a:spcAft>
              <a:defRPr sz="1250">
                <a:solidFill>
                  <a:srgbClr val="2D3741"/>
                </a:solidFill>
              </a:defRPr>
            </a:pPr>
            <a:r>
              <a:rPr lang="en-US" sz="1600" dirty="0"/>
              <a:t>• Computer Vision for pest detection &amp; classification</a:t>
            </a:r>
          </a:p>
          <a:p>
            <a:pPr>
              <a:spcAft>
                <a:spcPts val="800"/>
              </a:spcAft>
              <a:defRPr sz="1250">
                <a:solidFill>
                  <a:srgbClr val="2D3741"/>
                </a:solidFill>
              </a:defRPr>
            </a:pPr>
            <a:r>
              <a:rPr lang="en-US" sz="1600" dirty="0"/>
              <a:t>• Machine Learning / Deep Learning for prediction</a:t>
            </a:r>
          </a:p>
          <a:p>
            <a:pPr>
              <a:spcAft>
                <a:spcPts val="800"/>
              </a:spcAft>
              <a:defRPr sz="1250">
                <a:solidFill>
                  <a:srgbClr val="2D3741"/>
                </a:solidFill>
              </a:defRPr>
            </a:pPr>
            <a:r>
              <a:rPr lang="en-US" sz="1600" dirty="0"/>
              <a:t>• IoT-based crop and environmental monitoring</a:t>
            </a:r>
          </a:p>
          <a:p>
            <a:pPr>
              <a:spcAft>
                <a:spcPts val="800"/>
              </a:spcAft>
              <a:defRPr sz="1250">
                <a:solidFill>
                  <a:srgbClr val="2D3741"/>
                </a:solidFill>
              </a:defRPr>
            </a:pPr>
            <a:r>
              <a:rPr lang="en-US" sz="1600" dirty="0"/>
              <a:t>• Early alerts to reduce crop losses and unnecessary pesticide use</a:t>
            </a:r>
          </a:p>
          <a:p>
            <a:pPr>
              <a:spcBef>
                <a:spcPts val="800"/>
              </a:spcBef>
              <a:defRPr sz="1500" b="1">
                <a:solidFill>
                  <a:srgbClr val="143755"/>
                </a:solidFill>
              </a:defRPr>
            </a:pPr>
            <a:r>
              <a:rPr lang="en-US" sz="1600" dirty="0"/>
              <a:t>TECHNOLOGY STACK</a:t>
            </a:r>
          </a:p>
          <a:p>
            <a:pPr>
              <a:defRPr sz="1250" b="1">
                <a:solidFill>
                  <a:srgbClr val="2D3741"/>
                </a:solidFill>
              </a:defRPr>
            </a:pPr>
            <a:r>
              <a:rPr lang="en-US" sz="1600" dirty="0"/>
              <a:t>Computer Vision  +  Deep Learning  +  IoT  +  Mobile/Web Application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7520</TotalTime>
  <Words>560</Words>
  <Application>Microsoft Office PowerPoint</Application>
  <PresentationFormat>Widescreen</PresentationFormat>
  <Paragraphs>80</Paragraphs>
  <Slides>6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4" baseType="lpstr">
      <vt:lpstr>ＭＳ Ｐゴシック</vt:lpstr>
      <vt:lpstr>Arial</vt:lpstr>
      <vt:lpstr>Calibri</vt:lpstr>
      <vt:lpstr>Cambria</vt:lpstr>
      <vt:lpstr>Garamond</vt:lpstr>
      <vt:lpstr>Times New Roman</vt:lpstr>
      <vt:lpstr>TradeGothic</vt:lpstr>
      <vt:lpstr>Office Theme</vt:lpstr>
      <vt:lpstr>SMART INDIA HACKATHON 2026</vt:lpstr>
      <vt:lpstr> IDEA TITLE</vt:lpstr>
      <vt:lpstr>TECHNICAL APPROACH</vt:lpstr>
      <vt:lpstr>FEASIBILITY AND VIABILITY</vt:lpstr>
      <vt:lpstr>PowerPoint Presentation</vt:lpstr>
      <vt:lpstr>RESEARCH  AND REFERENCES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Gowtham Krishna</cp:lastModifiedBy>
  <cp:revision>154</cp:revision>
  <dcterms:created xsi:type="dcterms:W3CDTF">2013-12-12T18:46:50Z</dcterms:created>
  <dcterms:modified xsi:type="dcterms:W3CDTF">2026-09-14T15:26:54Z</dcterms:modified>
  <cp:category/>
</cp:coreProperties>
</file>