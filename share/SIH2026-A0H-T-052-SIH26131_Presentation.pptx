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7" r:id="rId4"/>
    <p:sldId id="293" r:id="rId5"/>
    <p:sldId id="258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FF83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1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693630" y="278314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425949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35790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404579"/>
            <a:ext cx="914400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SIH26131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Early detection and management of crop diseases and pest infestations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Agriculture,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SIH26-A0H-T052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TECH FORGE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+mn-lt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+mn-lt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99916" y="5190067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FORGE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669206-2BEA-4635-4868-1286144087A4}"/>
              </a:ext>
            </a:extLst>
          </p:cNvPr>
          <p:cNvSpPr/>
          <p:nvPr/>
        </p:nvSpPr>
        <p:spPr>
          <a:xfrm>
            <a:off x="104069" y="2399189"/>
            <a:ext cx="3855862" cy="1935004"/>
          </a:xfrm>
          <a:prstGeom prst="roundRect">
            <a:avLst/>
          </a:prstGeom>
          <a:solidFill>
            <a:srgbClr val="39B0D4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dirty="0"/>
              <a:t>🌱 PROPOSED SOLUTION</a:t>
            </a:r>
          </a:p>
          <a:p>
            <a:endParaRPr lang="en-IN" sz="1600" dirty="0"/>
          </a:p>
          <a:p>
            <a:r>
              <a:rPr lang="en-IN" sz="1600" dirty="0"/>
              <a:t>• AI-based crop disease &amp; pest detection</a:t>
            </a:r>
            <a:br>
              <a:rPr lang="en-IN" sz="1600" dirty="0"/>
            </a:br>
            <a:r>
              <a:rPr lang="en-IN" sz="1600" dirty="0"/>
              <a:t>• Upload/capture crop images</a:t>
            </a:r>
            <a:br>
              <a:rPr lang="en-IN" sz="1600" dirty="0"/>
            </a:br>
            <a:r>
              <a:rPr lang="en-IN" sz="1600" dirty="0"/>
              <a:t>• Identifies disease/pest and severity</a:t>
            </a:r>
            <a:br>
              <a:rPr lang="en-IN" sz="1600" dirty="0"/>
            </a:br>
            <a:r>
              <a:rPr lang="en-IN" sz="1600" dirty="0"/>
              <a:t>• Provides timely alerts &amp; recommendations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0C26E3-92ED-5B5D-BADE-8212C1C3A9FD}"/>
              </a:ext>
            </a:extLst>
          </p:cNvPr>
          <p:cNvSpPr/>
          <p:nvPr/>
        </p:nvSpPr>
        <p:spPr>
          <a:xfrm>
            <a:off x="8232069" y="2399189"/>
            <a:ext cx="3855862" cy="1935004"/>
          </a:xfrm>
          <a:prstGeom prst="roundRect">
            <a:avLst/>
          </a:prstGeom>
          <a:solidFill>
            <a:srgbClr val="39B0D4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600" b="1" dirty="0"/>
              <a:t>💡 INNOVATION &amp; UNIQUENESS</a:t>
            </a:r>
          </a:p>
          <a:p>
            <a:endParaRPr lang="en-IN" sz="1600" dirty="0"/>
          </a:p>
          <a:p>
            <a:r>
              <a:rPr lang="en-IN" sz="1600" dirty="0"/>
              <a:t>• AI-powered image analysis</a:t>
            </a:r>
            <a:br>
              <a:rPr lang="en-IN" sz="1600" dirty="0"/>
            </a:br>
            <a:r>
              <a:rPr lang="en-IN" sz="1600" dirty="0"/>
              <a:t>• Early-warning approach</a:t>
            </a:r>
            <a:br>
              <a:rPr lang="en-IN" sz="1600" dirty="0"/>
            </a:br>
            <a:r>
              <a:rPr lang="en-IN" sz="1600" dirty="0"/>
              <a:t>• Severity-based risk alerts</a:t>
            </a:r>
            <a:br>
              <a:rPr lang="en-IN" sz="1600" dirty="0"/>
            </a:br>
            <a:r>
              <a:rPr lang="en-IN" sz="1600" dirty="0"/>
              <a:t>• Smart &amp; farmer-friendly solution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E13745-2FFB-5218-1A2F-A12739A493B8}"/>
              </a:ext>
            </a:extLst>
          </p:cNvPr>
          <p:cNvSpPr/>
          <p:nvPr/>
        </p:nvSpPr>
        <p:spPr>
          <a:xfrm>
            <a:off x="4168069" y="2399189"/>
            <a:ext cx="3855862" cy="1935004"/>
          </a:xfrm>
          <a:prstGeom prst="roundRect">
            <a:avLst/>
          </a:prstGeom>
          <a:solidFill>
            <a:srgbClr val="39B0D4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1600" b="1" dirty="0"/>
              <a:t>🎯 HOW IT ADDRESSES THE PROBLEM</a:t>
            </a:r>
          </a:p>
          <a:p>
            <a:endParaRPr lang="en-IN" sz="1600" dirty="0"/>
          </a:p>
          <a:p>
            <a:r>
              <a:rPr lang="en-IN" sz="1600" dirty="0"/>
              <a:t>• Enables early detection</a:t>
            </a:r>
            <a:br>
              <a:rPr lang="en-IN" sz="1600" dirty="0"/>
            </a:br>
            <a:r>
              <a:rPr lang="en-IN" sz="1600" dirty="0"/>
              <a:t>• Helps prevent major crop damage</a:t>
            </a:r>
            <a:br>
              <a:rPr lang="en-IN" sz="1600" dirty="0"/>
            </a:br>
            <a:r>
              <a:rPr lang="en-IN" sz="1600" dirty="0"/>
              <a:t>• Supports timely intervention</a:t>
            </a:r>
            <a:br>
              <a:rPr lang="en-IN" sz="1600" dirty="0"/>
            </a:br>
            <a:r>
              <a:rPr lang="en-IN" sz="1600" dirty="0"/>
              <a:t>• Reduces unnecessary pesticide use</a:t>
            </a:r>
          </a:p>
          <a:p>
            <a:pPr algn="ctr"/>
            <a:endParaRPr lang="en-IN" sz="16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0D3071-0655-0797-1F05-03B5CFF5CD9F}"/>
              </a:ext>
            </a:extLst>
          </p:cNvPr>
          <p:cNvSpPr/>
          <p:nvPr/>
        </p:nvSpPr>
        <p:spPr>
          <a:xfrm>
            <a:off x="57630" y="5453063"/>
            <a:ext cx="2091694" cy="6604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📷 Capture Crop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8C6A8-F370-32EE-FE3F-DA88FA8E57AD}"/>
              </a:ext>
            </a:extLst>
          </p:cNvPr>
          <p:cNvSpPr/>
          <p:nvPr/>
        </p:nvSpPr>
        <p:spPr>
          <a:xfrm>
            <a:off x="9861165" y="5453063"/>
            <a:ext cx="2091694" cy="6604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📱 Alert &amp; Action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8361A85-1BE5-8352-10F0-173E6226FA45}"/>
              </a:ext>
            </a:extLst>
          </p:cNvPr>
          <p:cNvSpPr/>
          <p:nvPr/>
        </p:nvSpPr>
        <p:spPr>
          <a:xfrm>
            <a:off x="7410282" y="5453063"/>
            <a:ext cx="2091694" cy="6604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⚠️ Risk &amp; Severity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414FEA-DC54-E3EB-002A-BCBF350DF6A7}"/>
              </a:ext>
            </a:extLst>
          </p:cNvPr>
          <p:cNvSpPr/>
          <p:nvPr/>
        </p:nvSpPr>
        <p:spPr>
          <a:xfrm>
            <a:off x="4959398" y="5453063"/>
            <a:ext cx="2091694" cy="6604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🔍 Disease / Pest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0BBAF9A-C7A1-EDA0-D2C4-1D154A27AD8A}"/>
              </a:ext>
            </a:extLst>
          </p:cNvPr>
          <p:cNvSpPr/>
          <p:nvPr/>
        </p:nvSpPr>
        <p:spPr>
          <a:xfrm>
            <a:off x="2508514" y="5453063"/>
            <a:ext cx="2091694" cy="6604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🤖 AI Detection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7DB00B-B5FD-FB5B-0834-699C95108E0C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2149324" y="5783263"/>
            <a:ext cx="359190" cy="0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65011A1-26C3-6F85-EF4C-FE878DD1DA9C}"/>
              </a:ext>
            </a:extLst>
          </p:cNvPr>
          <p:cNvCxnSpPr/>
          <p:nvPr/>
        </p:nvCxnSpPr>
        <p:spPr>
          <a:xfrm>
            <a:off x="4600208" y="5783263"/>
            <a:ext cx="381348" cy="0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8025E8-2524-5A22-B521-9C852B456572}"/>
              </a:ext>
            </a:extLst>
          </p:cNvPr>
          <p:cNvCxnSpPr/>
          <p:nvPr/>
        </p:nvCxnSpPr>
        <p:spPr>
          <a:xfrm>
            <a:off x="7051092" y="5783263"/>
            <a:ext cx="381348" cy="0"/>
          </a:xfrm>
          <a:prstGeom prst="straightConnector1">
            <a:avLst/>
          </a:prstGeom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7546ECB-218E-A8ED-4273-18AB2D310169}"/>
              </a:ext>
            </a:extLst>
          </p:cNvPr>
          <p:cNvCxnSpPr/>
          <p:nvPr/>
        </p:nvCxnSpPr>
        <p:spPr>
          <a:xfrm>
            <a:off x="9501976" y="5783263"/>
            <a:ext cx="381348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42B7CB-6584-D6B9-9C80-ADE12B1E012A}"/>
              </a:ext>
            </a:extLst>
          </p:cNvPr>
          <p:cNvSpPr txBox="1"/>
          <p:nvPr/>
        </p:nvSpPr>
        <p:spPr>
          <a:xfrm>
            <a:off x="1828800" y="1651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4434AF-9A2C-512E-2FE8-6F14D3406828}"/>
              </a:ext>
            </a:extLst>
          </p:cNvPr>
          <p:cNvSpPr txBox="1"/>
          <p:nvPr/>
        </p:nvSpPr>
        <p:spPr>
          <a:xfrm>
            <a:off x="4597447" y="4751931"/>
            <a:ext cx="3206469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N" b="1" dirty="0"/>
              <a:t>HOW AGRISHIELD AI WORKS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BE2DCF-B43D-D772-9B67-D5E8F702BF86}"/>
              </a:ext>
            </a:extLst>
          </p:cNvPr>
          <p:cNvSpPr txBox="1"/>
          <p:nvPr/>
        </p:nvSpPr>
        <p:spPr>
          <a:xfrm>
            <a:off x="3399588" y="1417151"/>
            <a:ext cx="5392823" cy="7078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ea typeface="Cambria" panose="02040503050406030204" pitchFamily="18" charset="0"/>
              </a:rPr>
              <a:t>AGRISHIELD AI</a:t>
            </a:r>
          </a:p>
          <a:p>
            <a:pPr algn="ctr"/>
            <a:r>
              <a:rPr lang="en-IN" sz="2000" b="1" dirty="0"/>
              <a:t>AI-POWERED EARLY CROP HEALTH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FORGE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er 101"/>
          <p:cNvSpPr/>
          <p:nvPr/>
        </p:nvSpPr>
        <p:spPr>
          <a:xfrm>
            <a:off x="500000" y="1300000"/>
            <a:ext cx="2600000" cy="340000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102" name="Card 102"/>
          <p:cNvSpPr/>
          <p:nvPr/>
        </p:nvSpPr>
        <p:spPr>
          <a:xfrm>
            <a:off x="500000" y="1720000"/>
            <a:ext cx="3200000" cy="950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760000" tIns="45720" rIns="9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AI &amp; Deep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dirty="0">
                <a:solidFill>
                  <a:srgbClr val="2B2B2B"/>
                </a:solidFill>
              </a:rPr>
              <a:t>CNN/YOLO models for crop disease and pest identification</a:t>
            </a:r>
          </a:p>
        </p:txBody>
      </p:sp>
      <p:sp>
        <p:nvSpPr>
          <p:cNvPr id="103" name="Icon 103"/>
          <p:cNvSpPr/>
          <p:nvPr/>
        </p:nvSpPr>
        <p:spPr>
          <a:xfrm>
            <a:off x="630000" y="1935000"/>
            <a:ext cx="520000" cy="52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dirty="0">
                <a:solidFill>
                  <a:srgbClr val="2B2B2B"/>
                </a:solidFill>
              </a:rPr>
              <a:t>🤖</a:t>
            </a:r>
          </a:p>
        </p:txBody>
      </p:sp>
      <p:sp>
        <p:nvSpPr>
          <p:cNvPr id="104" name="Card 104"/>
          <p:cNvSpPr/>
          <p:nvPr/>
        </p:nvSpPr>
        <p:spPr>
          <a:xfrm>
            <a:off x="3900000" y="1720000"/>
            <a:ext cx="3200000" cy="950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760000" tIns="45720" rIns="9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Computer Vision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dirty="0">
                <a:solidFill>
                  <a:srgbClr val="2B2B2B"/>
                </a:solidFill>
              </a:rPr>
              <a:t>Image-based analysis of infected leaves and crops</a:t>
            </a:r>
          </a:p>
        </p:txBody>
      </p:sp>
      <p:sp>
        <p:nvSpPr>
          <p:cNvPr id="105" name="Icon 105"/>
          <p:cNvSpPr/>
          <p:nvPr/>
        </p:nvSpPr>
        <p:spPr>
          <a:xfrm>
            <a:off x="4030000" y="1935000"/>
            <a:ext cx="520000" cy="52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dirty="0">
                <a:solidFill>
                  <a:srgbClr val="2B2B2B"/>
                </a:solidFill>
              </a:rPr>
              <a:t>👁️</a:t>
            </a:r>
          </a:p>
        </p:txBody>
      </p:sp>
      <p:sp>
        <p:nvSpPr>
          <p:cNvPr id="106" name="Card 106"/>
          <p:cNvSpPr/>
          <p:nvPr/>
        </p:nvSpPr>
        <p:spPr>
          <a:xfrm>
            <a:off x="500000" y="2770000"/>
            <a:ext cx="3200000" cy="950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760000" tIns="45720" rIns="9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Machine Learning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dirty="0">
                <a:solidFill>
                  <a:srgbClr val="2B2B2B"/>
                </a:solidFill>
              </a:rPr>
              <a:t>Disease prediction using environmental and crop data</a:t>
            </a:r>
          </a:p>
        </p:txBody>
      </p:sp>
      <p:sp>
        <p:nvSpPr>
          <p:cNvPr id="107" name="Icon 107"/>
          <p:cNvSpPr/>
          <p:nvPr/>
        </p:nvSpPr>
        <p:spPr>
          <a:xfrm>
            <a:off x="630000" y="2985000"/>
            <a:ext cx="520000" cy="52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dirty="0">
                <a:solidFill>
                  <a:srgbClr val="2B2B2B"/>
                </a:solidFill>
              </a:rPr>
              <a:t>📈</a:t>
            </a:r>
          </a:p>
        </p:txBody>
      </p:sp>
      <p:sp>
        <p:nvSpPr>
          <p:cNvPr id="108" name="Card 108"/>
          <p:cNvSpPr/>
          <p:nvPr/>
        </p:nvSpPr>
        <p:spPr>
          <a:xfrm>
            <a:off x="3900000" y="2770000"/>
            <a:ext cx="3200000" cy="950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760000" tIns="45720" rIns="9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IoT Sensors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dirty="0">
                <a:solidFill>
                  <a:srgbClr val="2B2B2B"/>
                </a:solidFill>
              </a:rPr>
              <a:t>Monitoring temperature, humidity, soil moisture, and weather conditions</a:t>
            </a:r>
          </a:p>
        </p:txBody>
      </p:sp>
      <p:sp>
        <p:nvSpPr>
          <p:cNvPr id="109" name="Icon 109"/>
          <p:cNvSpPr/>
          <p:nvPr/>
        </p:nvSpPr>
        <p:spPr>
          <a:xfrm>
            <a:off x="4030000" y="2985000"/>
            <a:ext cx="520000" cy="52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dirty="0">
                <a:solidFill>
                  <a:srgbClr val="2B2B2B"/>
                </a:solidFill>
              </a:rPr>
              <a:t>📡</a:t>
            </a:r>
          </a:p>
        </p:txBody>
      </p:sp>
      <p:sp>
        <p:nvSpPr>
          <p:cNvPr id="110" name="Card 110"/>
          <p:cNvSpPr/>
          <p:nvPr/>
        </p:nvSpPr>
        <p:spPr>
          <a:xfrm>
            <a:off x="500000" y="3820000"/>
            <a:ext cx="3200000" cy="950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760000" tIns="45720" rIns="9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Cloud 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dirty="0">
                <a:solidFill>
                  <a:srgbClr val="2B2B2B"/>
                </a:solidFill>
              </a:rPr>
              <a:t>Data storage, model training, and real-time recommendations</a:t>
            </a:r>
          </a:p>
        </p:txBody>
      </p:sp>
      <p:sp>
        <p:nvSpPr>
          <p:cNvPr id="111" name="Icon 111"/>
          <p:cNvSpPr/>
          <p:nvPr/>
        </p:nvSpPr>
        <p:spPr>
          <a:xfrm>
            <a:off x="630000" y="4035000"/>
            <a:ext cx="520000" cy="52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dirty="0">
                <a:solidFill>
                  <a:srgbClr val="2B2B2B"/>
                </a:solidFill>
              </a:rPr>
              <a:t>☁️</a:t>
            </a:r>
          </a:p>
        </p:txBody>
      </p:sp>
      <p:sp>
        <p:nvSpPr>
          <p:cNvPr id="112" name="Card 112"/>
          <p:cNvSpPr/>
          <p:nvPr/>
        </p:nvSpPr>
        <p:spPr>
          <a:xfrm>
            <a:off x="3900000" y="3820000"/>
            <a:ext cx="3200000" cy="950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760000" tIns="45720" rIns="9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Mobile Application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b="0" dirty="0">
                <a:solidFill>
                  <a:srgbClr val="2B2B2B"/>
                </a:solidFill>
              </a:rPr>
              <a:t>Farmer-friendly interface for disease scanning and alerts</a:t>
            </a:r>
          </a:p>
        </p:txBody>
      </p:sp>
      <p:sp>
        <p:nvSpPr>
          <p:cNvPr id="113" name="Icon 113"/>
          <p:cNvSpPr/>
          <p:nvPr/>
        </p:nvSpPr>
        <p:spPr>
          <a:xfrm>
            <a:off x="4030000" y="4035000"/>
            <a:ext cx="520000" cy="52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dirty="0">
                <a:solidFill>
                  <a:srgbClr val="2B2B2B"/>
                </a:solidFill>
              </a:rPr>
              <a:t>📱</a:t>
            </a:r>
          </a:p>
        </p:txBody>
      </p:sp>
      <p:sp>
        <p:nvSpPr>
          <p:cNvPr id="114" name="Header 114"/>
          <p:cNvSpPr/>
          <p:nvPr/>
        </p:nvSpPr>
        <p:spPr>
          <a:xfrm>
            <a:off x="7450000" y="1300000"/>
            <a:ext cx="2200000" cy="340000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115" name="Step 115"/>
          <p:cNvSpPr/>
          <p:nvPr/>
        </p:nvSpPr>
        <p:spPr>
          <a:xfrm>
            <a:off x="7450000" y="1720000"/>
            <a:ext cx="4250000" cy="41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txBody>
          <a:bodyPr wrap="square" lIns="180000" tIns="0" rIns="9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📷  Crop Image</a:t>
            </a:r>
          </a:p>
        </p:txBody>
      </p:sp>
      <p:sp>
        <p:nvSpPr>
          <p:cNvPr id="116" name="Arrow 116"/>
          <p:cNvSpPr/>
          <p:nvPr/>
        </p:nvSpPr>
        <p:spPr>
          <a:xfrm>
            <a:off x="9465000" y="2144000"/>
            <a:ext cx="220000" cy="90000"/>
          </a:xfrm>
          <a:prstGeom prst="down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17" name="Step 117"/>
          <p:cNvSpPr/>
          <p:nvPr/>
        </p:nvSpPr>
        <p:spPr>
          <a:xfrm>
            <a:off x="7450000" y="2248000"/>
            <a:ext cx="4250000" cy="41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txBody>
          <a:bodyPr wrap="square" lIns="180000" tIns="0" rIns="9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🧠  AI Model Processing</a:t>
            </a:r>
          </a:p>
        </p:txBody>
      </p:sp>
      <p:sp>
        <p:nvSpPr>
          <p:cNvPr id="118" name="Arrow 118"/>
          <p:cNvSpPr/>
          <p:nvPr/>
        </p:nvSpPr>
        <p:spPr>
          <a:xfrm>
            <a:off x="9465000" y="2672000"/>
            <a:ext cx="220000" cy="90000"/>
          </a:xfrm>
          <a:prstGeom prst="down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19" name="Step 119"/>
          <p:cNvSpPr/>
          <p:nvPr/>
        </p:nvSpPr>
        <p:spPr>
          <a:xfrm>
            <a:off x="7450000" y="2776000"/>
            <a:ext cx="4250000" cy="41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txBody>
          <a:bodyPr wrap="square" lIns="180000" tIns="0" rIns="9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🔍  Disease/Pest Identification</a:t>
            </a:r>
          </a:p>
        </p:txBody>
      </p:sp>
      <p:sp>
        <p:nvSpPr>
          <p:cNvPr id="120" name="Arrow 120"/>
          <p:cNvSpPr/>
          <p:nvPr/>
        </p:nvSpPr>
        <p:spPr>
          <a:xfrm>
            <a:off x="9465000" y="3200000"/>
            <a:ext cx="220000" cy="90000"/>
          </a:xfrm>
          <a:prstGeom prst="down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21" name="Step 121"/>
          <p:cNvSpPr/>
          <p:nvPr/>
        </p:nvSpPr>
        <p:spPr>
          <a:xfrm>
            <a:off x="7450000" y="3304000"/>
            <a:ext cx="4250000" cy="41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txBody>
          <a:bodyPr wrap="square" lIns="180000" tIns="0" rIns="9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📊  Severity Assessment</a:t>
            </a:r>
          </a:p>
        </p:txBody>
      </p:sp>
      <p:sp>
        <p:nvSpPr>
          <p:cNvPr id="122" name="Arrow 122"/>
          <p:cNvSpPr/>
          <p:nvPr/>
        </p:nvSpPr>
        <p:spPr>
          <a:xfrm>
            <a:off x="9465000" y="3728000"/>
            <a:ext cx="220000" cy="90000"/>
          </a:xfrm>
          <a:prstGeom prst="down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23" name="Step 123"/>
          <p:cNvSpPr/>
          <p:nvPr/>
        </p:nvSpPr>
        <p:spPr>
          <a:xfrm>
            <a:off x="7450000" y="3832000"/>
            <a:ext cx="4250000" cy="410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txBody>
          <a:bodyPr wrap="square" lIns="180000" tIns="0" rIns="9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dirty="0">
                <a:solidFill>
                  <a:srgbClr val="1B5E20"/>
                </a:solidFill>
              </a:rPr>
              <a:t>🌱  Suggested Remedy + Preventive Measures</a:t>
            </a:r>
          </a:p>
        </p:txBody>
      </p:sp>
      <p:sp>
        <p:nvSpPr>
          <p:cNvPr id="124" name="Arrow 124"/>
          <p:cNvSpPr/>
          <p:nvPr/>
        </p:nvSpPr>
        <p:spPr>
          <a:xfrm>
            <a:off x="9465000" y="4256000"/>
            <a:ext cx="220000" cy="90000"/>
          </a:xfrm>
          <a:prstGeom prst="down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25" name="Step 125"/>
          <p:cNvSpPr/>
          <p:nvPr/>
        </p:nvSpPr>
        <p:spPr>
          <a:xfrm>
            <a:off x="7450000" y="4360000"/>
            <a:ext cx="4250000" cy="410000"/>
          </a:xfrm>
          <a:prstGeom prst="roundRect">
            <a:avLst>
              <a:gd name="adj" fmla="val 30000"/>
            </a:avLst>
          </a:prstGeom>
          <a:solidFill>
            <a:srgbClr val="2E7D32"/>
          </a:solidFill>
          <a:ln w="15875">
            <a:solidFill>
              <a:srgbClr val="2E7D32"/>
            </a:solidFill>
          </a:ln>
        </p:spPr>
        <p:txBody>
          <a:bodyPr wrap="square" lIns="180000" tIns="0" rIns="9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b="1" dirty="0">
                <a:solidFill>
                  <a:srgbClr val="FFFFFF"/>
                </a:solidFill>
              </a:rPr>
              <a:t>🔔  Early Warning Alerts</a:t>
            </a:r>
          </a:p>
        </p:txBody>
      </p:sp>
      <p:sp>
        <p:nvSpPr>
          <p:cNvPr id="126" name="Header 126"/>
          <p:cNvSpPr/>
          <p:nvPr/>
        </p:nvSpPr>
        <p:spPr>
          <a:xfrm>
            <a:off x="500000" y="4980000"/>
            <a:ext cx="3600000" cy="340000"/>
          </a:xfrm>
          <a:prstGeom prst="roundRect">
            <a:avLst>
              <a:gd name="adj" fmla="val 50000"/>
            </a:avLst>
          </a:prstGeom>
          <a:solidFill>
            <a:srgbClr val="1B5E2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solidFill>
                  <a:srgbClr val="FFFFFF"/>
                </a:solidFill>
              </a:rPr>
              <a:t>Implementation Methodology</a:t>
            </a:r>
          </a:p>
        </p:txBody>
      </p:sp>
      <p:sp>
        <p:nvSpPr>
          <p:cNvPr id="127" name="Flow 127"/>
          <p:cNvSpPr/>
          <p:nvPr/>
        </p:nvSpPr>
        <p:spPr>
          <a:xfrm>
            <a:off x="500000" y="5420000"/>
            <a:ext cx="1620000" cy="680000"/>
          </a:xfrm>
          <a:prstGeom prst="roundRect">
            <a:avLst>
              <a:gd name="adj" fmla="val 18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60000" tIns="30000" rIns="60000" bIns="3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>
                <a:solidFill>
                  <a:srgbClr val="1B5E20"/>
                </a:solidFill>
              </a:rPr>
              <a:t>Farmer</a:t>
            </a:r>
          </a:p>
        </p:txBody>
      </p:sp>
      <p:sp>
        <p:nvSpPr>
          <p:cNvPr id="128" name="Arrow 128"/>
          <p:cNvSpPr/>
          <p:nvPr/>
        </p:nvSpPr>
        <p:spPr>
          <a:xfrm>
            <a:off x="2158000" y="5660000"/>
            <a:ext cx="220000" cy="200000"/>
          </a:xfrm>
          <a:prstGeom prst="right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29" name="Flow 129"/>
          <p:cNvSpPr/>
          <p:nvPr/>
        </p:nvSpPr>
        <p:spPr>
          <a:xfrm>
            <a:off x="2416000" y="5420000"/>
            <a:ext cx="1620000" cy="680000"/>
          </a:xfrm>
          <a:prstGeom prst="roundRect">
            <a:avLst>
              <a:gd name="adj" fmla="val 18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60000" tIns="30000" rIns="60000" bIns="3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>
                <a:solidFill>
                  <a:srgbClr val="1B5E20"/>
                </a:solidFill>
              </a:rPr>
              <a:t>Mobile App</a:t>
            </a:r>
          </a:p>
        </p:txBody>
      </p:sp>
      <p:sp>
        <p:nvSpPr>
          <p:cNvPr id="130" name="Arrow 130"/>
          <p:cNvSpPr/>
          <p:nvPr/>
        </p:nvSpPr>
        <p:spPr>
          <a:xfrm>
            <a:off x="4074000" y="5660000"/>
            <a:ext cx="220000" cy="200000"/>
          </a:xfrm>
          <a:prstGeom prst="right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31" name="Flow 131"/>
          <p:cNvSpPr/>
          <p:nvPr/>
        </p:nvSpPr>
        <p:spPr>
          <a:xfrm>
            <a:off x="4332000" y="5420000"/>
            <a:ext cx="1620000" cy="680000"/>
          </a:xfrm>
          <a:prstGeom prst="roundRect">
            <a:avLst>
              <a:gd name="adj" fmla="val 18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60000" tIns="30000" rIns="60000" bIns="3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>
                <a:solidFill>
                  <a:srgbClr val="1B5E20"/>
                </a:solidFill>
              </a:rPr>
              <a:t>Image Capture</a:t>
            </a:r>
          </a:p>
        </p:txBody>
      </p:sp>
      <p:sp>
        <p:nvSpPr>
          <p:cNvPr id="132" name="Arrow 132"/>
          <p:cNvSpPr/>
          <p:nvPr/>
        </p:nvSpPr>
        <p:spPr>
          <a:xfrm>
            <a:off x="5990000" y="5660000"/>
            <a:ext cx="220000" cy="200000"/>
          </a:xfrm>
          <a:prstGeom prst="right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33" name="Flow 133"/>
          <p:cNvSpPr/>
          <p:nvPr/>
        </p:nvSpPr>
        <p:spPr>
          <a:xfrm>
            <a:off x="6248000" y="5420000"/>
            <a:ext cx="1620000" cy="680000"/>
          </a:xfrm>
          <a:prstGeom prst="roundRect">
            <a:avLst>
              <a:gd name="adj" fmla="val 18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60000" tIns="30000" rIns="60000" bIns="3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>
                <a:solidFill>
                  <a:srgbClr val="1B5E20"/>
                </a:solidFill>
              </a:rPr>
              <a:t>AI Disease Detection</a:t>
            </a:r>
          </a:p>
        </p:txBody>
      </p:sp>
      <p:sp>
        <p:nvSpPr>
          <p:cNvPr id="134" name="Arrow 134"/>
          <p:cNvSpPr/>
          <p:nvPr/>
        </p:nvSpPr>
        <p:spPr>
          <a:xfrm>
            <a:off x="7906000" y="5660000"/>
            <a:ext cx="220000" cy="200000"/>
          </a:xfrm>
          <a:prstGeom prst="right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35" name="Flow 135"/>
          <p:cNvSpPr/>
          <p:nvPr/>
        </p:nvSpPr>
        <p:spPr>
          <a:xfrm>
            <a:off x="8164000" y="5420000"/>
            <a:ext cx="1620000" cy="680000"/>
          </a:xfrm>
          <a:prstGeom prst="roundRect">
            <a:avLst>
              <a:gd name="adj" fmla="val 18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60000" tIns="30000" rIns="60000" bIns="3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>
                <a:solidFill>
                  <a:srgbClr val="1B5E20"/>
                </a:solidFill>
              </a:rPr>
              <a:t>Risk Analysis</a:t>
            </a:r>
          </a:p>
        </p:txBody>
      </p:sp>
      <p:sp>
        <p:nvSpPr>
          <p:cNvPr id="136" name="Arrow 136"/>
          <p:cNvSpPr/>
          <p:nvPr/>
        </p:nvSpPr>
        <p:spPr>
          <a:xfrm>
            <a:off x="9822000" y="5660000"/>
            <a:ext cx="220000" cy="200000"/>
          </a:xfrm>
          <a:prstGeom prst="rightArrow">
            <a:avLst/>
          </a:prstGeom>
          <a:solidFill>
            <a:srgbClr val="E65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en-IN"/>
          </a:p>
        </p:txBody>
      </p:sp>
      <p:sp>
        <p:nvSpPr>
          <p:cNvPr id="137" name="Flow 137"/>
          <p:cNvSpPr/>
          <p:nvPr/>
        </p:nvSpPr>
        <p:spPr>
          <a:xfrm>
            <a:off x="10080000" y="5420000"/>
            <a:ext cx="1620000" cy="680000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wrap="square" lIns="60000" tIns="30000" rIns="60000" bIns="3000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1" dirty="0">
                <a:solidFill>
                  <a:srgbClr val="FFFFFF"/>
                </a:solidFill>
              </a:rPr>
              <a:t>Treatment Recommendation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FORGE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8" name="ColHeader 138"/>
          <p:cNvSpPr/>
          <p:nvPr/>
        </p:nvSpPr>
        <p:spPr>
          <a:xfrm>
            <a:off x="500000" y="1450000"/>
            <a:ext cx="3550000" cy="56000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FFFFFF"/>
                </a:solidFill>
              </a:rPr>
              <a:t>🚀  Solution Feasibility</a:t>
            </a:r>
          </a:p>
        </p:txBody>
      </p:sp>
      <p:sp>
        <p:nvSpPr>
          <p:cNvPr id="139" name="ColHeader 139"/>
          <p:cNvSpPr/>
          <p:nvPr/>
        </p:nvSpPr>
        <p:spPr>
          <a:xfrm>
            <a:off x="4325000" y="1450000"/>
            <a:ext cx="3550000" cy="560000"/>
          </a:xfrm>
          <a:prstGeom prst="roundRect">
            <a:avLst>
              <a:gd name="adj" fmla="val 25000"/>
            </a:avLst>
          </a:prstGeom>
          <a:solidFill>
            <a:srgbClr val="E6510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FFFFFF"/>
                </a:solidFill>
              </a:rPr>
              <a:t>⚠️  Challenges &amp; Solutions</a:t>
            </a:r>
          </a:p>
        </p:txBody>
      </p:sp>
      <p:sp>
        <p:nvSpPr>
          <p:cNvPr id="140" name="ColHeader 140"/>
          <p:cNvSpPr/>
          <p:nvPr/>
        </p:nvSpPr>
        <p:spPr>
          <a:xfrm>
            <a:off x="8150000" y="1450000"/>
            <a:ext cx="3550000" cy="560000"/>
          </a:xfrm>
          <a:prstGeom prst="roundRect">
            <a:avLst>
              <a:gd name="adj" fmla="val 25000"/>
            </a:avLst>
          </a:prstGeom>
          <a:solidFill>
            <a:srgbClr val="283593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FFFFFF"/>
                </a:solidFill>
              </a:rPr>
              <a:t>🌱  Future Viability</a:t>
            </a:r>
          </a:p>
        </p:txBody>
      </p:sp>
      <p:sp>
        <p:nvSpPr>
          <p:cNvPr id="141" name="Card 141"/>
          <p:cNvSpPr/>
          <p:nvPr/>
        </p:nvSpPr>
        <p:spPr>
          <a:xfrm>
            <a:off x="500000" y="2130000"/>
            <a:ext cx="3550000" cy="123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1B5E20"/>
                </a:solidFill>
              </a:rPr>
              <a:t>AI-powered disease detection</a:t>
            </a:r>
            <a:r>
              <a:rPr lang="en-IN" sz="1600" b="0" dirty="0">
                <a:solidFill>
                  <a:srgbClr val="2B2B2B"/>
                </a:solidFill>
              </a:rPr>
              <a:t> enables fast and accurate crop monitoring.</a:t>
            </a:r>
          </a:p>
        </p:txBody>
      </p:sp>
      <p:sp>
        <p:nvSpPr>
          <p:cNvPr id="142" name="Card 142"/>
          <p:cNvSpPr/>
          <p:nvPr/>
        </p:nvSpPr>
        <p:spPr>
          <a:xfrm>
            <a:off x="500000" y="3486000"/>
            <a:ext cx="3550000" cy="123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1B5E20"/>
                </a:solidFill>
              </a:rPr>
              <a:t>Smartphone-based scanning</a:t>
            </a:r>
            <a:r>
              <a:rPr lang="en-IN" sz="1600" b="0" dirty="0">
                <a:solidFill>
                  <a:srgbClr val="2B2B2B"/>
                </a:solidFill>
              </a:rPr>
              <a:t> makes the solution affordable and farmer-friendly.</a:t>
            </a:r>
          </a:p>
        </p:txBody>
      </p:sp>
      <p:sp>
        <p:nvSpPr>
          <p:cNvPr id="143" name="Card 143"/>
          <p:cNvSpPr/>
          <p:nvPr/>
        </p:nvSpPr>
        <p:spPr>
          <a:xfrm>
            <a:off x="500000" y="4842000"/>
            <a:ext cx="3550000" cy="12360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1B5E20"/>
                </a:solidFill>
              </a:rPr>
              <a:t>AI + IoT + weather data</a:t>
            </a:r>
            <a:r>
              <a:rPr lang="en-IN" sz="1600" b="0" dirty="0">
                <a:solidFill>
                  <a:srgbClr val="2B2B2B"/>
                </a:solidFill>
              </a:rPr>
              <a:t> supports early disease prediction.</a:t>
            </a:r>
          </a:p>
        </p:txBody>
      </p:sp>
      <p:sp>
        <p:nvSpPr>
          <p:cNvPr id="144" name="Card 144"/>
          <p:cNvSpPr/>
          <p:nvPr/>
        </p:nvSpPr>
        <p:spPr>
          <a:xfrm>
            <a:off x="4325000" y="2130000"/>
            <a:ext cx="3550000" cy="897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dirty="0">
                <a:solidFill>
                  <a:srgbClr val="E65100"/>
                </a:solidFill>
              </a:rPr>
              <a:t>Poor image quality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dirty="0">
                <a:solidFill>
                  <a:srgbClr val="2B2B2B"/>
                </a:solidFill>
              </a:rPr>
              <a:t>→  AI-based image enhancement</a:t>
            </a:r>
          </a:p>
        </p:txBody>
      </p:sp>
      <p:sp>
        <p:nvSpPr>
          <p:cNvPr id="145" name="Card 145"/>
          <p:cNvSpPr/>
          <p:nvPr/>
        </p:nvSpPr>
        <p:spPr>
          <a:xfrm>
            <a:off x="4325000" y="3147000"/>
            <a:ext cx="3550000" cy="897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dirty="0">
                <a:solidFill>
                  <a:srgbClr val="E65100"/>
                </a:solidFill>
              </a:rPr>
              <a:t>Limited datasets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dirty="0">
                <a:solidFill>
                  <a:srgbClr val="2B2B2B"/>
                </a:solidFill>
              </a:rPr>
              <a:t>→  Continuous data collection &amp; training</a:t>
            </a:r>
          </a:p>
        </p:txBody>
      </p:sp>
      <p:sp>
        <p:nvSpPr>
          <p:cNvPr id="146" name="Card 146"/>
          <p:cNvSpPr/>
          <p:nvPr/>
        </p:nvSpPr>
        <p:spPr>
          <a:xfrm>
            <a:off x="4325000" y="4164000"/>
            <a:ext cx="3550000" cy="897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dirty="0">
                <a:solidFill>
                  <a:srgbClr val="E65100"/>
                </a:solidFill>
              </a:rPr>
              <a:t>Low connectivity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dirty="0">
                <a:solidFill>
                  <a:srgbClr val="2B2B2B"/>
                </a:solidFill>
              </a:rPr>
              <a:t>→  Offline support system</a:t>
            </a:r>
          </a:p>
        </p:txBody>
      </p:sp>
      <p:sp>
        <p:nvSpPr>
          <p:cNvPr id="147" name="Card 147"/>
          <p:cNvSpPr/>
          <p:nvPr/>
        </p:nvSpPr>
        <p:spPr>
          <a:xfrm>
            <a:off x="4325000" y="5181000"/>
            <a:ext cx="3550000" cy="897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FCC80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600" b="1" dirty="0">
                <a:solidFill>
                  <a:srgbClr val="E65100"/>
                </a:solidFill>
              </a:rPr>
              <a:t>Crop variations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dirty="0">
                <a:solidFill>
                  <a:srgbClr val="2B2B2B"/>
                </a:solidFill>
              </a:rPr>
              <a:t>→  Adaptive AI models</a:t>
            </a:r>
          </a:p>
        </p:txBody>
      </p:sp>
      <p:sp>
        <p:nvSpPr>
          <p:cNvPr id="148" name="Card 148"/>
          <p:cNvSpPr/>
          <p:nvPr/>
        </p:nvSpPr>
        <p:spPr>
          <a:xfrm>
            <a:off x="8150000" y="2130000"/>
            <a:ext cx="3550000" cy="1236000"/>
          </a:xfrm>
          <a:prstGeom prst="roundRect">
            <a:avLst>
              <a:gd name="adj" fmla="val 8000"/>
            </a:avLst>
          </a:prstGeom>
          <a:solidFill>
            <a:srgbClr val="E8EAF6"/>
          </a:solidFill>
          <a:ln w="12700">
            <a:solidFill>
              <a:srgbClr val="9FA8DA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dirty="0">
                <a:solidFill>
                  <a:srgbClr val="2B2B2B"/>
                </a:solidFill>
              </a:rPr>
              <a:t>Reduces </a:t>
            </a:r>
            <a:r>
              <a:rPr lang="en-IN" sz="1600" b="1" dirty="0">
                <a:solidFill>
                  <a:srgbClr val="283593"/>
                </a:solidFill>
              </a:rPr>
              <a:t>crop losses</a:t>
            </a:r>
            <a:r>
              <a:rPr lang="en-IN" sz="1600" b="0" dirty="0">
                <a:solidFill>
                  <a:srgbClr val="2B2B2B"/>
                </a:solidFill>
              </a:rPr>
              <a:t> and </a:t>
            </a:r>
            <a:r>
              <a:rPr lang="en-IN" sz="1600" b="1" dirty="0">
                <a:solidFill>
                  <a:srgbClr val="283593"/>
                </a:solidFill>
              </a:rPr>
              <a:t>pesticide usage</a:t>
            </a:r>
            <a:r>
              <a:rPr lang="en-IN" sz="1600" b="0" dirty="0">
                <a:solidFill>
                  <a:srgbClr val="2B2B2B"/>
                </a:solidFill>
              </a:rPr>
              <a:t>.</a:t>
            </a:r>
          </a:p>
        </p:txBody>
      </p:sp>
      <p:sp>
        <p:nvSpPr>
          <p:cNvPr id="149" name="Card 149"/>
          <p:cNvSpPr/>
          <p:nvPr/>
        </p:nvSpPr>
        <p:spPr>
          <a:xfrm>
            <a:off x="8150000" y="3486000"/>
            <a:ext cx="3550000" cy="1236000"/>
          </a:xfrm>
          <a:prstGeom prst="roundRect">
            <a:avLst>
              <a:gd name="adj" fmla="val 8000"/>
            </a:avLst>
          </a:prstGeom>
          <a:solidFill>
            <a:srgbClr val="E8EAF6"/>
          </a:solidFill>
          <a:ln w="12700">
            <a:solidFill>
              <a:srgbClr val="9FA8DA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dirty="0">
                <a:solidFill>
                  <a:srgbClr val="2B2B2B"/>
                </a:solidFill>
              </a:rPr>
              <a:t>Improves </a:t>
            </a:r>
            <a:r>
              <a:rPr lang="en-IN" sz="1600" b="1" dirty="0">
                <a:solidFill>
                  <a:srgbClr val="283593"/>
                </a:solidFill>
              </a:rPr>
              <a:t>farmer productivity</a:t>
            </a:r>
            <a:r>
              <a:rPr lang="en-IN" sz="1600" b="0" dirty="0">
                <a:solidFill>
                  <a:srgbClr val="2B2B2B"/>
                </a:solidFill>
              </a:rPr>
              <a:t> with timely alerts.</a:t>
            </a:r>
          </a:p>
        </p:txBody>
      </p:sp>
      <p:sp>
        <p:nvSpPr>
          <p:cNvPr id="150" name="Card 150"/>
          <p:cNvSpPr/>
          <p:nvPr/>
        </p:nvSpPr>
        <p:spPr>
          <a:xfrm>
            <a:off x="8150000" y="4842000"/>
            <a:ext cx="3550000" cy="1236000"/>
          </a:xfrm>
          <a:prstGeom prst="roundRect">
            <a:avLst>
              <a:gd name="adj" fmla="val 8000"/>
            </a:avLst>
          </a:prstGeom>
          <a:solidFill>
            <a:srgbClr val="E8EAF6"/>
          </a:solidFill>
          <a:ln w="12700">
            <a:solidFill>
              <a:srgbClr val="9FA8DA"/>
            </a:solidFill>
          </a:ln>
        </p:spPr>
        <p:txBody>
          <a:bodyPr wrap="square" lIns="180000" tIns="45720" rIns="150000" bIns="4572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dirty="0">
                <a:solidFill>
                  <a:srgbClr val="2B2B2B"/>
                </a:solidFill>
              </a:rPr>
              <a:t>Scalable for </a:t>
            </a:r>
            <a:r>
              <a:rPr lang="en-IN" sz="1600" b="1" dirty="0">
                <a:solidFill>
                  <a:srgbClr val="283593"/>
                </a:solidFill>
              </a:rPr>
              <a:t>multiple crops and regions</a:t>
            </a:r>
            <a:r>
              <a:rPr lang="en-IN" sz="1600" b="0" dirty="0">
                <a:solidFill>
                  <a:srgbClr val="2B2B2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ogo Oval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B3B65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262E44"/>
                </a:solidFill>
              </a:rPr>
              <a:t>TECH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dirty="0">
                <a:solidFill>
                  <a:srgbClr val="262E44"/>
                </a:solidFill>
              </a:rPr>
              <a:t>FORGE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2100000" y="250000"/>
            <a:ext cx="76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dirty="0">
                <a:latin typeface="Times New Roman"/>
                <a:cs typeface="Times New Roman"/>
              </a:rPr>
              <a:t>IMPACTS AND BENEFITS</a:t>
            </a:r>
          </a:p>
        </p:txBody>
      </p:sp>
      <p:sp>
        <p:nvSpPr>
          <p:cNvPr id="14" name="Card Body"/>
          <p:cNvSpPr/>
          <p:nvPr/>
        </p:nvSpPr>
        <p:spPr>
          <a:xfrm>
            <a:off x="500000" y="1300000"/>
            <a:ext cx="6900000" cy="4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C7CCD6"/>
            </a:solidFill>
          </a:ln>
        </p:spPr>
        <p:txBody>
          <a:bodyPr wrap="square" lIns="250000" tIns="820000" rIns="200000" bIns="100000" rtlCol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Farmer Livelihoods: </a:t>
            </a:r>
            <a:r>
              <a:rPr lang="en-IN" sz="1900" b="0" dirty="0">
                <a:solidFill>
                  <a:srgbClr val="262E44"/>
                </a:solidFill>
              </a:rPr>
              <a:t>Protects yield &amp; income from crop loss</a:t>
            </a:r>
          </a:p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Farmer Empowerment: </a:t>
            </a:r>
            <a:r>
              <a:rPr lang="en-IN" sz="1900" b="0" dirty="0">
                <a:solidFill>
                  <a:srgbClr val="262E44"/>
                </a:solidFill>
              </a:rPr>
              <a:t>Expert diagnosis in every pocket</a:t>
            </a:r>
          </a:p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Economic Value: </a:t>
            </a:r>
            <a:r>
              <a:rPr lang="en-IN" sz="1900" b="0" dirty="0">
                <a:solidFill>
                  <a:srgbClr val="262E44"/>
                </a:solidFill>
              </a:rPr>
              <a:t>Cuts crop-loss burden &amp; pesticide spend</a:t>
            </a:r>
          </a:p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Policy &amp; Governance: </a:t>
            </a:r>
            <a:r>
              <a:rPr lang="en-IN" sz="1900" b="0" dirty="0">
                <a:solidFill>
                  <a:srgbClr val="262E44"/>
                </a:solidFill>
              </a:rPr>
              <a:t>Data-backed insight for targeted support</a:t>
            </a:r>
          </a:p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Environmental Gain: </a:t>
            </a:r>
            <a:r>
              <a:rPr lang="en-IN" sz="1900" b="0" dirty="0">
                <a:solidFill>
                  <a:srgbClr val="262E44"/>
                </a:solidFill>
              </a:rPr>
              <a:t>Less blanket spraying, less runoff</a:t>
            </a:r>
          </a:p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Food Security: </a:t>
            </a:r>
            <a:r>
              <a:rPr lang="en-IN" sz="1900" b="0" dirty="0">
                <a:solidFill>
                  <a:srgbClr val="262E44"/>
                </a:solidFill>
              </a:rPr>
              <a:t>Steadies local food supply &amp; prices</a:t>
            </a:r>
          </a:p>
        </p:txBody>
      </p:sp>
      <p:sp>
        <p:nvSpPr>
          <p:cNvPr id="15" name="Card Header"/>
          <p:cNvSpPr/>
          <p:nvPr/>
        </p:nvSpPr>
        <p:spPr>
          <a:xfrm>
            <a:off x="500000" y="1300000"/>
            <a:ext cx="6900000" cy="560000"/>
          </a:xfrm>
          <a:prstGeom prst="rect">
            <a:avLst/>
          </a:prstGeom>
          <a:solidFill>
            <a:srgbClr val="2B3B65"/>
          </a:solidFill>
          <a:ln>
            <a:noFill/>
          </a:ln>
        </p:spPr>
        <p:txBody>
          <a:bodyPr wrap="square" lIns="250000" tIns="0" rIns="20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FFFFFF"/>
                </a:solidFill>
              </a:rPr>
              <a:t>AgriShield AI - Key Benefits</a:t>
            </a:r>
          </a:p>
        </p:txBody>
      </p:sp>
      <p:sp>
        <p:nvSpPr>
          <p:cNvPr id="16" name="Card Body"/>
          <p:cNvSpPr/>
          <p:nvPr/>
        </p:nvSpPr>
        <p:spPr>
          <a:xfrm>
            <a:off x="7592000" y="1300000"/>
            <a:ext cx="4100000" cy="4700000"/>
          </a:xfrm>
          <a:prstGeom prst="rect">
            <a:avLst/>
          </a:prstGeom>
          <a:solidFill>
            <a:srgbClr val="F5F7FA"/>
          </a:solidFill>
          <a:ln w="12700">
            <a:solidFill>
              <a:srgbClr val="C7CCD6"/>
            </a:solidFill>
          </a:ln>
        </p:spPr>
        <p:txBody>
          <a:bodyPr wrap="square" lIns="250000" tIns="820000" rIns="200000" bIns="100000" rtlCol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Early: </a:t>
            </a:r>
            <a:r>
              <a:rPr lang="en-IN" sz="1900" b="0" dirty="0">
                <a:solidFill>
                  <a:srgbClr val="262E44"/>
                </a:solidFill>
              </a:rPr>
              <a:t>Advance warning before crop damage</a:t>
            </a:r>
          </a:p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Fewer: </a:t>
            </a:r>
            <a:r>
              <a:rPr lang="en-IN" sz="1900" b="0" dirty="0">
                <a:solidFill>
                  <a:srgbClr val="262E44"/>
                </a:solidFill>
              </a:rPr>
              <a:t>Unneeded pesticide sprays avoided</a:t>
            </a:r>
          </a:p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Higher: </a:t>
            </a:r>
            <a:r>
              <a:rPr lang="en-IN" sz="1900" b="0" dirty="0">
                <a:solidFill>
                  <a:srgbClr val="262E44"/>
                </a:solidFill>
              </a:rPr>
              <a:t>Protected yield &amp; farmer income</a:t>
            </a:r>
          </a:p>
          <a:p>
            <a:pPr marL="285750" indent="-285750" algn="l">
              <a:spcBef>
                <a:spcPts val="0"/>
              </a:spcBef>
              <a:spcAft>
                <a:spcPts val="2000"/>
              </a:spcAft>
              <a:buClr>
                <a:srgbClr val="2B3B65"/>
              </a:buClr>
              <a:buFont typeface="Arial"/>
              <a:buChar char="•"/>
            </a:pPr>
            <a:r>
              <a:rPr lang="en-IN" sz="1900" b="1" dirty="0">
                <a:solidFill>
                  <a:srgbClr val="2B3B65"/>
                </a:solidFill>
              </a:rPr>
              <a:t>Wider: </a:t>
            </a:r>
            <a:r>
              <a:rPr lang="en-IN" sz="1900" b="0" dirty="0">
                <a:solidFill>
                  <a:srgbClr val="262E44"/>
                </a:solidFill>
              </a:rPr>
              <a:t>Reach across farming communities</a:t>
            </a:r>
          </a:p>
        </p:txBody>
      </p:sp>
      <p:sp>
        <p:nvSpPr>
          <p:cNvPr id="17" name="Card Header"/>
          <p:cNvSpPr/>
          <p:nvPr/>
        </p:nvSpPr>
        <p:spPr>
          <a:xfrm>
            <a:off x="7592000" y="1300000"/>
            <a:ext cx="4100000" cy="560000"/>
          </a:xfrm>
          <a:prstGeom prst="rect">
            <a:avLst/>
          </a:prstGeom>
          <a:solidFill>
            <a:srgbClr val="2B3B65"/>
          </a:solidFill>
          <a:ln>
            <a:noFill/>
          </a:ln>
        </p:spPr>
        <p:txBody>
          <a:bodyPr wrap="square" lIns="250000" tIns="0" rIns="20000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FFFFFF"/>
                </a:solidFill>
              </a:rPr>
              <a:t>Overall Impact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1602A-9622-FDAC-5C1F-34B681F87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423" y="468"/>
            <a:ext cx="24574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07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</a:t>
            </a:r>
          </a:p>
          <a:p>
            <a:pPr algn="ctr"/>
            <a:r>
              <a:rPr lang="en-IN" dirty="0"/>
              <a:t>FORGE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325880"/>
            <a:ext cx="5440680" cy="44805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747423" y="1554479"/>
            <a:ext cx="4684548" cy="3377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3755"/>
                </a:solidFill>
              </a:defRPr>
            </a:pPr>
            <a:r>
              <a:rPr sz="1600" dirty="0"/>
              <a:t>RESEARCH SOURCES</a:t>
            </a:r>
          </a:p>
          <a:p>
            <a:pPr>
              <a:spcAft>
                <a:spcPts val="900"/>
              </a:spcAft>
              <a:defRPr sz="1250">
                <a:solidFill>
                  <a:srgbClr val="2D3741"/>
                </a:solidFill>
              </a:defRPr>
            </a:pPr>
            <a:r>
              <a:rPr sz="1600" dirty="0"/>
              <a:t>• ICAR – Crop diseases, pest management and agricultural practices</a:t>
            </a:r>
          </a:p>
          <a:p>
            <a:pPr>
              <a:spcAft>
                <a:spcPts val="900"/>
              </a:spcAft>
              <a:defRPr sz="1250">
                <a:solidFill>
                  <a:srgbClr val="2D3741"/>
                </a:solidFill>
              </a:defRPr>
            </a:pPr>
            <a:r>
              <a:rPr sz="1600" dirty="0"/>
              <a:t>• FAO – Crop health, pests and sustainable agriculture</a:t>
            </a:r>
          </a:p>
          <a:p>
            <a:pPr>
              <a:spcAft>
                <a:spcPts val="900"/>
              </a:spcAft>
              <a:defRPr sz="1250">
                <a:solidFill>
                  <a:srgbClr val="2D3741"/>
                </a:solidFill>
              </a:defRPr>
            </a:pPr>
            <a:r>
              <a:rPr sz="1600" dirty="0"/>
              <a:t>• Plant</a:t>
            </a:r>
            <a:r>
              <a:rPr lang="en-IN" sz="1600" dirty="0"/>
              <a:t> </a:t>
            </a:r>
            <a:r>
              <a:rPr sz="1600" dirty="0"/>
              <a:t>Village – Crop-disease image datasets and AI identification </a:t>
            </a:r>
            <a:r>
              <a:rPr lang="en-IN" sz="1600" dirty="0"/>
              <a:t>     </a:t>
            </a:r>
            <a:r>
              <a:rPr sz="1600" dirty="0"/>
              <a:t>research</a:t>
            </a:r>
          </a:p>
          <a:p>
            <a:pPr>
              <a:spcAft>
                <a:spcPts val="900"/>
              </a:spcAft>
              <a:defRPr sz="1250">
                <a:solidFill>
                  <a:srgbClr val="2D3741"/>
                </a:solidFill>
              </a:defRPr>
            </a:pPr>
            <a:r>
              <a:rPr sz="1600" dirty="0"/>
              <a:t>• Kaggle – Plant disease and pest image datasets for ML research</a:t>
            </a:r>
          </a:p>
          <a:p>
            <a:pPr>
              <a:spcAft>
                <a:spcPts val="900"/>
              </a:spcAft>
              <a:defRPr sz="1250">
                <a:solidFill>
                  <a:srgbClr val="2D3741"/>
                </a:solidFill>
              </a:defRPr>
            </a:pPr>
            <a:r>
              <a:rPr sz="1600" dirty="0"/>
              <a:t>• Research Papers &amp; Journals – Computer Vision, Deep Learning and </a:t>
            </a:r>
            <a:endParaRPr lang="en-IN" sz="1600" dirty="0"/>
          </a:p>
          <a:p>
            <a:pPr>
              <a:spcAft>
                <a:spcPts val="900"/>
              </a:spcAft>
              <a:defRPr sz="1250">
                <a:solidFill>
                  <a:srgbClr val="2D3741"/>
                </a:solidFill>
              </a:defRPr>
            </a:pPr>
            <a:r>
              <a:rPr sz="1600" dirty="0"/>
              <a:t>CNN-based detection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263640" y="1325880"/>
            <a:ext cx="5303520" cy="448056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6537960" y="1554479"/>
            <a:ext cx="455458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3755"/>
                </a:solidFill>
              </a:defRPr>
            </a:pPr>
            <a:r>
              <a:rPr lang="en-US" sz="1600" dirty="0"/>
              <a:t>KEY RESEARCH AREAS</a:t>
            </a:r>
          </a:p>
          <a:p>
            <a:pPr>
              <a:spcAft>
                <a:spcPts val="800"/>
              </a:spcAft>
              <a:defRPr sz="1250">
                <a:solidFill>
                  <a:srgbClr val="2D3741"/>
                </a:solidFill>
              </a:defRPr>
            </a:pPr>
            <a:r>
              <a:rPr lang="en-US" sz="1600" dirty="0"/>
              <a:t>• Early visual identification of crop diseases</a:t>
            </a:r>
          </a:p>
          <a:p>
            <a:pPr>
              <a:spcAft>
                <a:spcPts val="800"/>
              </a:spcAft>
              <a:defRPr sz="1250">
                <a:solidFill>
                  <a:srgbClr val="2D3741"/>
                </a:solidFill>
              </a:defRPr>
            </a:pPr>
            <a:r>
              <a:rPr lang="en-US" sz="1600" dirty="0"/>
              <a:t>• Computer Vision for pest detection &amp; classification</a:t>
            </a:r>
          </a:p>
          <a:p>
            <a:pPr>
              <a:spcAft>
                <a:spcPts val="800"/>
              </a:spcAft>
              <a:defRPr sz="1250">
                <a:solidFill>
                  <a:srgbClr val="2D3741"/>
                </a:solidFill>
              </a:defRPr>
            </a:pPr>
            <a:r>
              <a:rPr lang="en-US" sz="1600" dirty="0"/>
              <a:t>• Machine Learning / Deep Learning for prediction</a:t>
            </a:r>
          </a:p>
          <a:p>
            <a:pPr>
              <a:spcAft>
                <a:spcPts val="800"/>
              </a:spcAft>
              <a:defRPr sz="1250">
                <a:solidFill>
                  <a:srgbClr val="2D3741"/>
                </a:solidFill>
              </a:defRPr>
            </a:pPr>
            <a:r>
              <a:rPr lang="en-US" sz="1600" dirty="0"/>
              <a:t>• IoT-based crop and environmental monitoring</a:t>
            </a:r>
          </a:p>
          <a:p>
            <a:pPr>
              <a:spcAft>
                <a:spcPts val="800"/>
              </a:spcAft>
              <a:defRPr sz="1250">
                <a:solidFill>
                  <a:srgbClr val="2D3741"/>
                </a:solidFill>
              </a:defRPr>
            </a:pPr>
            <a:r>
              <a:rPr lang="en-US" sz="1600" dirty="0"/>
              <a:t>• Early alerts to reduce crop losses and unnecessary pesticide use</a:t>
            </a:r>
          </a:p>
          <a:p>
            <a:pPr>
              <a:spcBef>
                <a:spcPts val="800"/>
              </a:spcBef>
              <a:defRPr sz="1500" b="1">
                <a:solidFill>
                  <a:srgbClr val="143755"/>
                </a:solidFill>
              </a:defRPr>
            </a:pPr>
            <a:r>
              <a:rPr lang="en-US" sz="1600" dirty="0"/>
              <a:t>TECHNOLOGY STACK</a:t>
            </a:r>
          </a:p>
          <a:p>
            <a:pPr>
              <a:defRPr sz="1250" b="1">
                <a:solidFill>
                  <a:srgbClr val="2D3741"/>
                </a:solidFill>
              </a:defRPr>
            </a:pPr>
            <a:r>
              <a:rPr lang="en-US" sz="1600" dirty="0"/>
              <a:t>Computer Vision  +  Deep Learning  +  IoT  +  Mobile/Web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7534</TotalTime>
  <Words>614</Words>
  <Application>Microsoft Office PowerPoint</Application>
  <PresentationFormat>Widescreen</PresentationFormat>
  <Paragraphs>128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Cambria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Sivaprasantham K - [CB.SC.U4AIE26161]</cp:lastModifiedBy>
  <cp:revision>160</cp:revision>
  <dcterms:created xsi:type="dcterms:W3CDTF">2013-12-12T18:46:50Z</dcterms:created>
  <dcterms:modified xsi:type="dcterms:W3CDTF">2026-09-20T09:34:31Z</dcterms:modified>
  <cp:category/>
</cp:coreProperties>
</file>